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1"/>
  </p:sldMasterIdLst>
  <p:notesMasterIdLst>
    <p:notesMasterId r:id="rId11"/>
  </p:notesMasterIdLst>
  <p:handoutMasterIdLst>
    <p:handoutMasterId r:id="rId12"/>
  </p:handoutMasterIdLst>
  <p:sldIdLst>
    <p:sldId id="256" r:id="rId2"/>
    <p:sldId id="445" r:id="rId3"/>
    <p:sldId id="439" r:id="rId4"/>
    <p:sldId id="459" r:id="rId5"/>
    <p:sldId id="460" r:id="rId6"/>
    <p:sldId id="461" r:id="rId7"/>
    <p:sldId id="462" r:id="rId8"/>
    <p:sldId id="463" r:id="rId9"/>
    <p:sldId id="42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32" autoAdjust="0"/>
    <p:restoredTop sz="94660"/>
  </p:normalViewPr>
  <p:slideViewPr>
    <p:cSldViewPr snapToGrid="0">
      <p:cViewPr varScale="1">
        <p:scale>
          <a:sx n="78" d="100"/>
          <a:sy n="78" d="100"/>
        </p:scale>
        <p:origin x="1128" y="6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8F3A72-38B4-468C-9969-8EBC9EBBC085}" type="datetimeFigureOut">
              <a:rPr lang="en-IN" smtClean="0"/>
              <a:t>14-10-2026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84CC91-4110-4846-A9CF-AE2F97E92D53}" type="slidenum">
              <a:rPr lang="en-IN" smtClean="0"/>
              <a:t>‹#›</a:t>
            </a:fld>
            <a:endParaRPr lang="en-IN"/>
          </a:p>
        </p:txBody>
      </p:sp>
    </p:spTree>
    <p:extLst>
      <p:ext uri="{BB962C8B-B14F-4D97-AF65-F5344CB8AC3E}">
        <p14:creationId xmlns:p14="http://schemas.microsoft.com/office/powerpoint/2010/main" val="13355673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372918-CFFB-473A-878B-BA7849715643}"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B6A0CE-65B2-4191-96C4-6805AF534D98}" type="slidenum">
              <a:rPr lang="en-IN" smtClean="0"/>
              <a:t>‹#›</a:t>
            </a:fld>
            <a:endParaRPr lang="en-IN"/>
          </a:p>
        </p:txBody>
      </p:sp>
    </p:spTree>
    <p:extLst>
      <p:ext uri="{BB962C8B-B14F-4D97-AF65-F5344CB8AC3E}">
        <p14:creationId xmlns:p14="http://schemas.microsoft.com/office/powerpoint/2010/main" val="210445149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AB6A0CE-65B2-4191-96C4-6805AF534D98}" type="slidenum">
              <a:rPr lang="en-IN" smtClean="0"/>
              <a:t>1</a:t>
            </a:fld>
            <a:endParaRPr lang="en-IN"/>
          </a:p>
        </p:txBody>
      </p:sp>
    </p:spTree>
    <p:extLst>
      <p:ext uri="{BB962C8B-B14F-4D97-AF65-F5344CB8AC3E}">
        <p14:creationId xmlns:p14="http://schemas.microsoft.com/office/powerpoint/2010/main" val="347907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AB6A0CE-65B2-4191-96C4-6805AF534D98}" type="slidenum">
              <a:rPr lang="en-IN" smtClean="0"/>
              <a:t>3</a:t>
            </a:fld>
            <a:endParaRPr lang="en-IN"/>
          </a:p>
        </p:txBody>
      </p:sp>
    </p:spTree>
    <p:extLst>
      <p:ext uri="{BB962C8B-B14F-4D97-AF65-F5344CB8AC3E}">
        <p14:creationId xmlns:p14="http://schemas.microsoft.com/office/powerpoint/2010/main" val="330167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AB6A0CE-65B2-4191-96C4-6805AF534D98}" type="slidenum">
              <a:rPr lang="en-IN" smtClean="0"/>
              <a:t>5</a:t>
            </a:fld>
            <a:endParaRPr lang="en-IN"/>
          </a:p>
        </p:txBody>
      </p:sp>
    </p:spTree>
    <p:extLst>
      <p:ext uri="{BB962C8B-B14F-4D97-AF65-F5344CB8AC3E}">
        <p14:creationId xmlns:p14="http://schemas.microsoft.com/office/powerpoint/2010/main" val="1917603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AB6A0CE-65B2-4191-96C4-6805AF534D98}" type="slidenum">
              <a:rPr lang="en-IN" smtClean="0"/>
              <a:t>6</a:t>
            </a:fld>
            <a:endParaRPr lang="en-IN"/>
          </a:p>
        </p:txBody>
      </p:sp>
    </p:spTree>
    <p:extLst>
      <p:ext uri="{BB962C8B-B14F-4D97-AF65-F5344CB8AC3E}">
        <p14:creationId xmlns:p14="http://schemas.microsoft.com/office/powerpoint/2010/main" val="1612486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AB6A0CE-65B2-4191-96C4-6805AF534D98}" type="slidenum">
              <a:rPr lang="en-IN" smtClean="0"/>
              <a:t>7</a:t>
            </a:fld>
            <a:endParaRPr lang="en-IN"/>
          </a:p>
        </p:txBody>
      </p:sp>
    </p:spTree>
    <p:extLst>
      <p:ext uri="{BB962C8B-B14F-4D97-AF65-F5344CB8AC3E}">
        <p14:creationId xmlns:p14="http://schemas.microsoft.com/office/powerpoint/2010/main" val="2525716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EFE6B-0724-7846-8849-A31853455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D8F76-9909-CFE2-6115-FF616ED57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42723-210B-8120-7603-D18A9C940CC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3547FF7-7EA4-1C37-A46D-C9AF30DC4677}"/>
              </a:ext>
            </a:extLst>
          </p:cNvPr>
          <p:cNvSpPr>
            <a:spLocks noGrp="1"/>
          </p:cNvSpPr>
          <p:nvPr>
            <p:ph type="sldNum" sz="quarter" idx="10"/>
          </p:nvPr>
        </p:nvSpPr>
        <p:spPr/>
        <p:txBody>
          <a:bodyPr/>
          <a:lstStyle/>
          <a:p>
            <a:fld id="{BAB6A0CE-65B2-4191-96C4-6805AF534D98}" type="slidenum">
              <a:rPr lang="en-IN" smtClean="0"/>
              <a:t>8</a:t>
            </a:fld>
            <a:endParaRPr lang="en-IN"/>
          </a:p>
        </p:txBody>
      </p:sp>
    </p:spTree>
    <p:extLst>
      <p:ext uri="{BB962C8B-B14F-4D97-AF65-F5344CB8AC3E}">
        <p14:creationId xmlns:p14="http://schemas.microsoft.com/office/powerpoint/2010/main" val="3671945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0FDF8C-5877-4F2A-B668-2B108E86DA8C}" type="datetime1">
              <a:rPr lang="en-IN" smtClean="0"/>
              <a:t>14-10-2026</a:t>
            </a:fld>
            <a:endParaRPr lang="en-IN"/>
          </a:p>
        </p:txBody>
      </p:sp>
      <p:sp>
        <p:nvSpPr>
          <p:cNvPr id="5" name="Footer Placeholder 4"/>
          <p:cNvSpPr>
            <a:spLocks noGrp="1"/>
          </p:cNvSpPr>
          <p:nvPr>
            <p:ph type="ftr" sz="quarter" idx="11"/>
          </p:nvPr>
        </p:nvSpPr>
        <p:spPr/>
        <p:txBody>
          <a:bodyPr/>
          <a:lstStyle/>
          <a:p>
            <a:r>
              <a:rPr lang="en-US"/>
              <a:t>Introduction to AI Robotics (22AIE214)</a:t>
            </a:r>
            <a:endParaRPr lang="en-IN"/>
          </a:p>
        </p:txBody>
      </p:sp>
      <p:sp>
        <p:nvSpPr>
          <p:cNvPr id="6" name="Slide Number Placeholder 5"/>
          <p:cNvSpPr>
            <a:spLocks noGrp="1"/>
          </p:cNvSpPr>
          <p:nvPr>
            <p:ph type="sldNum" sz="quarter" idx="12"/>
          </p:nvPr>
        </p:nvSpPr>
        <p:spPr/>
        <p:txBody>
          <a:bodyPr/>
          <a:lstStyle/>
          <a:p>
            <a:fld id="{09B341A6-C61A-4A60-A38C-2498703C4B8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8892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AADBA4-4945-46DD-99BC-DFBD0CB96500}" type="datetime1">
              <a:rPr lang="en-IN" smtClean="0"/>
              <a:t>14-10-2026</a:t>
            </a:fld>
            <a:endParaRPr lang="en-IN"/>
          </a:p>
        </p:txBody>
      </p:sp>
      <p:sp>
        <p:nvSpPr>
          <p:cNvPr id="5" name="Footer Placeholder 4"/>
          <p:cNvSpPr>
            <a:spLocks noGrp="1"/>
          </p:cNvSpPr>
          <p:nvPr>
            <p:ph type="ftr" sz="quarter" idx="11"/>
          </p:nvPr>
        </p:nvSpPr>
        <p:spPr/>
        <p:txBody>
          <a:bodyPr/>
          <a:lstStyle/>
          <a:p>
            <a:r>
              <a:rPr lang="en-US"/>
              <a:t>Introduction to AI Robotics (22AIE214)</a:t>
            </a:r>
            <a:endParaRPr lang="en-IN"/>
          </a:p>
        </p:txBody>
      </p:sp>
      <p:sp>
        <p:nvSpPr>
          <p:cNvPr id="6" name="Slide Number Placeholder 5"/>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1493318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3D3CC1-7F41-4246-885A-95B879CEB558}" type="datetime1">
              <a:rPr lang="en-IN" smtClean="0"/>
              <a:t>14-10-2026</a:t>
            </a:fld>
            <a:endParaRPr lang="en-IN"/>
          </a:p>
        </p:txBody>
      </p:sp>
      <p:sp>
        <p:nvSpPr>
          <p:cNvPr id="5" name="Footer Placeholder 4"/>
          <p:cNvSpPr>
            <a:spLocks noGrp="1"/>
          </p:cNvSpPr>
          <p:nvPr>
            <p:ph type="ftr" sz="quarter" idx="11"/>
          </p:nvPr>
        </p:nvSpPr>
        <p:spPr/>
        <p:txBody>
          <a:bodyPr/>
          <a:lstStyle/>
          <a:p>
            <a:r>
              <a:rPr lang="en-US"/>
              <a:t>Introduction to AI Robotics (22AIE214)</a:t>
            </a:r>
            <a:endParaRPr lang="en-IN"/>
          </a:p>
        </p:txBody>
      </p:sp>
      <p:sp>
        <p:nvSpPr>
          <p:cNvPr id="6" name="Slide Number Placeholder 5"/>
          <p:cNvSpPr>
            <a:spLocks noGrp="1"/>
          </p:cNvSpPr>
          <p:nvPr>
            <p:ph type="sldNum" sz="quarter" idx="12"/>
          </p:nvPr>
        </p:nvSpPr>
        <p:spPr/>
        <p:txBody>
          <a:bodyPr/>
          <a:lstStyle/>
          <a:p>
            <a:fld id="{09B341A6-C61A-4A60-A38C-2498703C4B8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229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0466A8-F726-43E8-A323-E8C9B418496C}" type="datetime1">
              <a:rPr lang="en-IN" smtClean="0"/>
              <a:t>14-10-2026</a:t>
            </a:fld>
            <a:endParaRPr lang="en-IN"/>
          </a:p>
        </p:txBody>
      </p:sp>
      <p:sp>
        <p:nvSpPr>
          <p:cNvPr id="6" name="Footer Placeholder 5"/>
          <p:cNvSpPr>
            <a:spLocks noGrp="1"/>
          </p:cNvSpPr>
          <p:nvPr>
            <p:ph type="ftr" sz="quarter" idx="11"/>
          </p:nvPr>
        </p:nvSpPr>
        <p:spPr/>
        <p:txBody>
          <a:bodyPr/>
          <a:lstStyle/>
          <a:p>
            <a:r>
              <a:rPr lang="en-US"/>
              <a:t>Introduction to AI Robotics (22AIE214)</a:t>
            </a:r>
            <a:endParaRPr lang="en-IN"/>
          </a:p>
        </p:txBody>
      </p:sp>
      <p:sp>
        <p:nvSpPr>
          <p:cNvPr id="7" name="Slide Number Placeholder 6"/>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77385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913E15-D0C1-4DCE-B7A5-DC80FCB5A4C3}" type="datetime1">
              <a:rPr lang="en-IN" smtClean="0"/>
              <a:t>14-10-2026</a:t>
            </a:fld>
            <a:endParaRPr lang="en-IN"/>
          </a:p>
        </p:txBody>
      </p:sp>
      <p:sp>
        <p:nvSpPr>
          <p:cNvPr id="8" name="Footer Placeholder 7"/>
          <p:cNvSpPr>
            <a:spLocks noGrp="1"/>
          </p:cNvSpPr>
          <p:nvPr>
            <p:ph type="ftr" sz="quarter" idx="11"/>
          </p:nvPr>
        </p:nvSpPr>
        <p:spPr/>
        <p:txBody>
          <a:bodyPr/>
          <a:lstStyle/>
          <a:p>
            <a:r>
              <a:rPr lang="en-US"/>
              <a:t>Introduction to AI Robotics (22AIE214)</a:t>
            </a:r>
            <a:endParaRPr lang="en-IN"/>
          </a:p>
        </p:txBody>
      </p:sp>
      <p:sp>
        <p:nvSpPr>
          <p:cNvPr id="9" name="Slide Number Placeholder 8"/>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1117840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F65312-1BE3-4177-86A5-46CD921D896F}" type="datetime1">
              <a:rPr lang="en-IN" smtClean="0"/>
              <a:t>14-10-2026</a:t>
            </a:fld>
            <a:endParaRPr lang="en-IN"/>
          </a:p>
        </p:txBody>
      </p:sp>
      <p:sp>
        <p:nvSpPr>
          <p:cNvPr id="4" name="Footer Placeholder 3"/>
          <p:cNvSpPr>
            <a:spLocks noGrp="1"/>
          </p:cNvSpPr>
          <p:nvPr>
            <p:ph type="ftr" sz="quarter" idx="11"/>
          </p:nvPr>
        </p:nvSpPr>
        <p:spPr/>
        <p:txBody>
          <a:bodyPr/>
          <a:lstStyle/>
          <a:p>
            <a:r>
              <a:rPr lang="en-US"/>
              <a:t>Introduction to AI Robotics (22AIE214)</a:t>
            </a:r>
            <a:endParaRPr lang="en-IN"/>
          </a:p>
        </p:txBody>
      </p:sp>
      <p:sp>
        <p:nvSpPr>
          <p:cNvPr id="5" name="Slide Number Placeholder 4"/>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2251655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24EBDB-3CD1-49CC-BDB8-BAAE73ED4E4A}" type="datetime1">
              <a:rPr lang="en-IN" smtClean="0"/>
              <a:t>14-10-2026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Introduction to AI Robotics (22AIE214)</a:t>
            </a:r>
            <a:endParaRPr lang="en-IN"/>
          </a:p>
        </p:txBody>
      </p:sp>
      <p:sp>
        <p:nvSpPr>
          <p:cNvPr id="9" name="Slide Number Placeholder 8"/>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3902908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2D617E9-D2AF-4D24-9B14-C81D6F93DB49}" type="datetime1">
              <a:rPr lang="en-IN" smtClean="0"/>
              <a:t>14-10-2026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Introduction to AI Robotics (22AIE214)</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9B341A6-C61A-4A60-A38C-2498703C4B8A}" type="slidenum">
              <a:rPr lang="en-IN" smtClean="0"/>
              <a:t>‹#›</a:t>
            </a:fld>
            <a:endParaRPr lang="en-IN"/>
          </a:p>
        </p:txBody>
      </p:sp>
    </p:spTree>
    <p:extLst>
      <p:ext uri="{BB962C8B-B14F-4D97-AF65-F5344CB8AC3E}">
        <p14:creationId xmlns:p14="http://schemas.microsoft.com/office/powerpoint/2010/main" val="783659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5A7DE-8F09-420D-9CE1-59C896DA8F6A}" type="datetime1">
              <a:rPr lang="en-IN" smtClean="0"/>
              <a:t>14-10-2026</a:t>
            </a:fld>
            <a:endParaRPr lang="en-IN"/>
          </a:p>
        </p:txBody>
      </p:sp>
      <p:sp>
        <p:nvSpPr>
          <p:cNvPr id="6" name="Footer Placeholder 5"/>
          <p:cNvSpPr>
            <a:spLocks noGrp="1"/>
          </p:cNvSpPr>
          <p:nvPr>
            <p:ph type="ftr" sz="quarter" idx="11"/>
          </p:nvPr>
        </p:nvSpPr>
        <p:spPr/>
        <p:txBody>
          <a:bodyPr/>
          <a:lstStyle/>
          <a:p>
            <a:r>
              <a:rPr lang="en-US"/>
              <a:t>Introduction to AI Robotics (22AIE214)</a:t>
            </a:r>
            <a:endParaRPr lang="en-IN"/>
          </a:p>
        </p:txBody>
      </p:sp>
      <p:sp>
        <p:nvSpPr>
          <p:cNvPr id="7" name="Slide Number Placeholder 6"/>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3755131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DE38FC-2C77-474F-B2BD-BB1A674C4A1A}" type="datetime1">
              <a:rPr lang="en-IN" smtClean="0"/>
              <a:t>14-10-2026</a:t>
            </a:fld>
            <a:endParaRPr lang="en-IN"/>
          </a:p>
        </p:txBody>
      </p:sp>
      <p:sp>
        <p:nvSpPr>
          <p:cNvPr id="5" name="Footer Placeholder 4"/>
          <p:cNvSpPr>
            <a:spLocks noGrp="1"/>
          </p:cNvSpPr>
          <p:nvPr>
            <p:ph type="ftr" sz="quarter" idx="11"/>
          </p:nvPr>
        </p:nvSpPr>
        <p:spPr/>
        <p:txBody>
          <a:bodyPr/>
          <a:lstStyle/>
          <a:p>
            <a:r>
              <a:rPr lang="en-US"/>
              <a:t>Introduction to AI Robotics (22AIE214)</a:t>
            </a:r>
            <a:endParaRPr lang="en-IN"/>
          </a:p>
        </p:txBody>
      </p:sp>
      <p:sp>
        <p:nvSpPr>
          <p:cNvPr id="6" name="Slide Number Placeholder 5"/>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1358899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93EF1F-E7C3-4AEC-920A-756773D047B0}" type="datetime1">
              <a:rPr lang="en-IN" smtClean="0"/>
              <a:t>14-10-2026</a:t>
            </a:fld>
            <a:endParaRPr lang="en-IN"/>
          </a:p>
        </p:txBody>
      </p:sp>
      <p:sp>
        <p:nvSpPr>
          <p:cNvPr id="5" name="Footer Placeholder 4"/>
          <p:cNvSpPr>
            <a:spLocks noGrp="1"/>
          </p:cNvSpPr>
          <p:nvPr>
            <p:ph type="ftr" sz="quarter" idx="11"/>
          </p:nvPr>
        </p:nvSpPr>
        <p:spPr/>
        <p:txBody>
          <a:bodyPr/>
          <a:lstStyle/>
          <a:p>
            <a:r>
              <a:rPr lang="en-US"/>
              <a:t>Introduction to AI Robotics (22AIE214)</a:t>
            </a:r>
            <a:endParaRPr lang="en-IN"/>
          </a:p>
        </p:txBody>
      </p:sp>
      <p:sp>
        <p:nvSpPr>
          <p:cNvPr id="6" name="Slide Number Placeholder 5"/>
          <p:cNvSpPr>
            <a:spLocks noGrp="1"/>
          </p:cNvSpPr>
          <p:nvPr>
            <p:ph type="sldNum" sz="quarter" idx="12"/>
          </p:nvPr>
        </p:nvSpPr>
        <p:spPr/>
        <p:txBody>
          <a:bodyPr/>
          <a:lstStyle/>
          <a:p>
            <a:fld id="{09B341A6-C61A-4A60-A38C-2498703C4B8A}" type="slidenum">
              <a:rPr lang="en-IN" smtClean="0"/>
              <a:t>‹#›</a:t>
            </a:fld>
            <a:endParaRPr lang="en-IN"/>
          </a:p>
        </p:txBody>
      </p:sp>
    </p:spTree>
    <p:extLst>
      <p:ext uri="{BB962C8B-B14F-4D97-AF65-F5344CB8AC3E}">
        <p14:creationId xmlns:p14="http://schemas.microsoft.com/office/powerpoint/2010/main" val="1479350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6B84380-9941-4FC4-8AAE-14DF37FDDE22}" type="datetime1">
              <a:rPr lang="en-IN" smtClean="0"/>
              <a:t>14-10-2026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Introduction to AI Robotics (22AIE214)</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9B341A6-C61A-4A60-A38C-2498703C4B8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8531411"/>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pPr algn="ctr"/>
            <a:r>
              <a:rPr lang="en-US" sz="3200" b="1" dirty="0">
                <a:solidFill>
                  <a:srgbClr val="C00000"/>
                </a:solidFill>
                <a:latin typeface="Times New Roman" panose="02020603050405020304" pitchFamily="18" charset="0"/>
                <a:cs typeface="Times New Roman" panose="02020603050405020304" pitchFamily="18" charset="0"/>
              </a:rPr>
              <a:t>Amrita Vishwa Vidyapeetham, Amaravati Campus</a:t>
            </a:r>
            <a:endParaRPr lang="en-IN" sz="3200" b="1" dirty="0">
              <a:solidFill>
                <a:srgbClr val="C00000"/>
              </a:solidFill>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t>Introduction to AI Robotics (22AIE214)</a:t>
            </a:r>
            <a:endParaRPr lang="en-IN" dirty="0"/>
          </a:p>
        </p:txBody>
      </p:sp>
      <p:sp>
        <p:nvSpPr>
          <p:cNvPr id="7" name="Slide Number Placeholder 6"/>
          <p:cNvSpPr>
            <a:spLocks noGrp="1"/>
          </p:cNvSpPr>
          <p:nvPr>
            <p:ph type="sldNum" sz="quarter" idx="12"/>
          </p:nvPr>
        </p:nvSpPr>
        <p:spPr/>
        <p:txBody>
          <a:bodyPr/>
          <a:lstStyle/>
          <a:p>
            <a:fld id="{09B341A6-C61A-4A60-A38C-2498703C4B8A}" type="slidenum">
              <a:rPr lang="en-IN" smtClean="0"/>
              <a:t>1</a:t>
            </a:fld>
            <a:endParaRPr lang="en-IN"/>
          </a:p>
        </p:txBody>
      </p:sp>
      <p:graphicFrame>
        <p:nvGraphicFramePr>
          <p:cNvPr id="2" name="Table 1"/>
          <p:cNvGraphicFramePr>
            <a:graphicFrameLocks noGrp="1"/>
          </p:cNvGraphicFramePr>
          <p:nvPr>
            <p:extLst>
              <p:ext uri="{D42A27DB-BD31-4B8C-83A1-F6EECF244321}">
                <p14:modId xmlns:p14="http://schemas.microsoft.com/office/powerpoint/2010/main" val="533777419"/>
              </p:ext>
            </p:extLst>
          </p:nvPr>
        </p:nvGraphicFramePr>
        <p:xfrm>
          <a:off x="2427287" y="3857180"/>
          <a:ext cx="8128000" cy="12903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US" sz="1800" dirty="0">
                          <a:solidFill>
                            <a:schemeClr val="tx1"/>
                          </a:solidFill>
                          <a:latin typeface="Times New Roman" panose="02020603050405020304" pitchFamily="18" charset="0"/>
                          <a:cs typeface="Times New Roman" panose="02020603050405020304" pitchFamily="18" charset="0"/>
                        </a:rPr>
                        <a:t>Name of the Student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anose="02020603050405020304" pitchFamily="18" charset="0"/>
                          <a:cs typeface="Times New Roman" panose="02020603050405020304" pitchFamily="18" charset="0"/>
                        </a:rPr>
                        <a:t>Roll No.</a:t>
                      </a:r>
                      <a:endParaRPr lang="en-IN" sz="18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pPr algn="ctr"/>
                      <a:r>
                        <a:rPr lang="en-IN" sz="1500" dirty="0">
                          <a:solidFill>
                            <a:srgbClr val="3A3A3A"/>
                          </a:solidFill>
                          <a:latin typeface="Times New Roman"/>
                        </a:rPr>
                        <a:t>S.THARUN</a:t>
                      </a:r>
                      <a:endParaRPr sz="1500" dirty="0">
                        <a:solidFill>
                          <a:srgbClr val="3A3A3A"/>
                        </a:solidFill>
                        <a:latin typeface="Times New Roman"/>
                      </a:endParaRPr>
                    </a:p>
                  </a:txBody>
                  <a:tcPr marL="73152" marR="73152" anchor="ctr"/>
                </a:tc>
                <a:tc>
                  <a:txBody>
                    <a:bodyPr/>
                    <a:lstStyle/>
                    <a:p>
                      <a:pPr algn="ctr"/>
                      <a:r>
                        <a:rPr lang="en-IN" sz="1500" dirty="0">
                          <a:solidFill>
                            <a:srgbClr val="3A3A3A"/>
                          </a:solidFill>
                          <a:latin typeface="Times New Roman"/>
                        </a:rPr>
                        <a:t>AV.SC.U4AIE24055</a:t>
                      </a:r>
                      <a:endParaRPr sz="1500" dirty="0">
                        <a:solidFill>
                          <a:srgbClr val="3A3A3A"/>
                        </a:solidFill>
                        <a:latin typeface="Times New Roman"/>
                      </a:endParaRPr>
                    </a:p>
                  </a:txBody>
                  <a:tcPr marL="73152" marR="73152" anchor="ctr"/>
                </a:tc>
                <a:extLst>
                  <a:ext uri="{0D108BD9-81ED-4DB2-BD59-A6C34878D82A}">
                    <a16:rowId xmlns:a16="http://schemas.microsoft.com/office/drawing/2014/main" val="10001"/>
                  </a:ext>
                </a:extLst>
              </a:tr>
              <a:tr h="370840">
                <a:tc>
                  <a:txBody>
                    <a:bodyPr/>
                    <a:lstStyle/>
                    <a:p>
                      <a:pPr algn="ctr"/>
                      <a:r>
                        <a:rPr lang="en-IN" sz="1500" dirty="0">
                          <a:solidFill>
                            <a:srgbClr val="3A3A3A"/>
                          </a:solidFill>
                          <a:latin typeface="Times New Roman"/>
                        </a:rPr>
                        <a:t>J.SRINESH</a:t>
                      </a:r>
                    </a:p>
                    <a:p>
                      <a:pPr algn="ctr"/>
                      <a:r>
                        <a:rPr lang="en-IN" sz="1500" dirty="0">
                          <a:solidFill>
                            <a:srgbClr val="3A3A3A"/>
                          </a:solidFill>
                          <a:latin typeface="Times New Roman"/>
                        </a:rPr>
                        <a:t>D.RITHESH</a:t>
                      </a:r>
                      <a:endParaRPr sz="1500" dirty="0">
                        <a:solidFill>
                          <a:srgbClr val="3A3A3A"/>
                        </a:solidFill>
                        <a:latin typeface="Times New Roman"/>
                      </a:endParaRPr>
                    </a:p>
                  </a:txBody>
                  <a:tcPr marL="73152" marR="7315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dirty="0">
                          <a:solidFill>
                            <a:srgbClr val="3A3A3A"/>
                          </a:solidFill>
                          <a:latin typeface="Times New Roman"/>
                        </a:rPr>
                        <a:t>AV.SC.U4AIE24020</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dirty="0">
                          <a:solidFill>
                            <a:srgbClr val="3A3A3A"/>
                          </a:solidFill>
                          <a:latin typeface="Times New Roman"/>
                        </a:rPr>
                        <a:t>AV.SC.U4AIE24013</a:t>
                      </a:r>
                    </a:p>
                  </a:txBody>
                  <a:tcPr marL="73152" marR="73152" anchor="ct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33E0DE4F-ABEC-9686-5AC9-CBA44A61B199}"/>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dirty="0">
                <a:solidFill>
                  <a:srgbClr val="FFFFFF"/>
                </a:solidFill>
                <a:latin typeface="Times New Roman"/>
              </a:rPr>
              <a:t>14/10/2026</a:t>
            </a:r>
            <a:endParaRPr lang="en-IN" dirty="0"/>
          </a:p>
        </p:txBody>
      </p:sp>
      <p:sp>
        <p:nvSpPr>
          <p:cNvPr id="9" name="TextBox 8">
            <a:extLst>
              <a:ext uri="{FF2B5EF4-FFF2-40B4-BE49-F238E27FC236}">
                <a16:creationId xmlns:a16="http://schemas.microsoft.com/office/drawing/2014/main" id="{3D7EB9AF-1756-761D-A295-27C7BA68F1DB}"/>
              </a:ext>
            </a:extLst>
          </p:cNvPr>
          <p:cNvSpPr txBox="1"/>
          <p:nvPr/>
        </p:nvSpPr>
        <p:spPr>
          <a:xfrm>
            <a:off x="3189685" y="5160744"/>
            <a:ext cx="6093618" cy="646331"/>
          </a:xfrm>
          <a:prstGeom prst="rect">
            <a:avLst/>
          </a:prstGeom>
          <a:noFill/>
        </p:spPr>
        <p:txBody>
          <a:bodyPr wrap="square">
            <a:spAutoFit/>
          </a:bodyPr>
          <a:lstStyle/>
          <a:p>
            <a:pPr marL="0" indent="0" algn="ctr">
              <a:buNone/>
            </a:pPr>
            <a:r>
              <a:rPr lang="en-US" sz="1800" i="1" dirty="0">
                <a:solidFill>
                  <a:schemeClr val="tx1"/>
                </a:solidFill>
                <a:latin typeface="Times New Roman" panose="02020603050405020304" pitchFamily="18" charset="0"/>
                <a:cs typeface="Times New Roman" panose="02020603050405020304" pitchFamily="18" charset="0"/>
              </a:rPr>
              <a:t>Under the Guidance of</a:t>
            </a:r>
          </a:p>
          <a:p>
            <a:pPr marL="0" indent="0" algn="ctr">
              <a:buNone/>
            </a:pPr>
            <a:r>
              <a:rPr lang="en-US" b="1" dirty="0">
                <a:latin typeface="Times New Roman" panose="02020603050405020304" pitchFamily="18" charset="0"/>
                <a:cs typeface="Times New Roman" panose="02020603050405020304" pitchFamily="18" charset="0"/>
              </a:rPr>
              <a:t>Dr Ravishankar Prakash Desai</a:t>
            </a:r>
            <a:endParaRPr lang="en-US" sz="1800" b="1" dirty="0">
              <a:solidFill>
                <a:schemeClr val="tx1"/>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600200" y="1984539"/>
            <a:ext cx="9006840" cy="346890"/>
          </a:xfrm>
          <a:prstGeom prst="rect">
            <a:avLst/>
          </a:prstGeom>
          <a:noFill/>
        </p:spPr>
        <p:txBody>
          <a:bodyPr wrap="square" lIns="0" tIns="0" rIns="0" bIns="0" anchor="ctr">
            <a:spAutoFit/>
          </a:bodyPr>
          <a:lstStyle/>
          <a:p>
            <a:pPr algn="ctr">
              <a:lnSpc>
                <a:spcPct val="98000"/>
              </a:lnSpc>
              <a:spcBef>
                <a:spcPts val="0"/>
              </a:spcBef>
              <a:spcAft>
                <a:spcPts val="0"/>
              </a:spcAft>
            </a:pPr>
            <a:r>
              <a:rPr sz="2300" b="1" i="0" dirty="0">
                <a:solidFill>
                  <a:srgbClr val="3A3A3A"/>
                </a:solidFill>
                <a:latin typeface="Times New Roman"/>
              </a:rPr>
              <a:t>Autonomous Mobile Robot Path Tracking</a:t>
            </a:r>
          </a:p>
        </p:txBody>
      </p:sp>
      <p:sp>
        <p:nvSpPr>
          <p:cNvPr id="11" name="TextBox 10"/>
          <p:cNvSpPr txBox="1"/>
          <p:nvPr/>
        </p:nvSpPr>
        <p:spPr>
          <a:xfrm>
            <a:off x="1828800" y="2690785"/>
            <a:ext cx="8549640" cy="241989"/>
          </a:xfrm>
          <a:prstGeom prst="rect">
            <a:avLst/>
          </a:prstGeom>
          <a:noFill/>
        </p:spPr>
        <p:txBody>
          <a:bodyPr wrap="square" lIns="0" tIns="0" rIns="0" bIns="0" anchor="ctr">
            <a:spAutoFit/>
          </a:bodyPr>
          <a:lstStyle/>
          <a:p>
            <a:pPr algn="ctr">
              <a:lnSpc>
                <a:spcPct val="105000"/>
              </a:lnSpc>
              <a:spcBef>
                <a:spcPts val="0"/>
              </a:spcBef>
              <a:spcAft>
                <a:spcPts val="500"/>
              </a:spcAft>
            </a:pPr>
            <a:r>
              <a:rPr sz="1600" b="0" i="1" dirty="0">
                <a:solidFill>
                  <a:srgbClr val="3A3A3A"/>
                </a:solidFill>
                <a:latin typeface="Times New Roman"/>
              </a:rPr>
              <a:t>Using Pure Pursuit and Stanley </a:t>
            </a:r>
          </a:p>
        </p:txBody>
      </p:sp>
      <p:sp>
        <p:nvSpPr>
          <p:cNvPr id="12" name="TextBox 11"/>
          <p:cNvSpPr txBox="1"/>
          <p:nvPr/>
        </p:nvSpPr>
        <p:spPr>
          <a:xfrm>
            <a:off x="3840480" y="3319272"/>
            <a:ext cx="4526280" cy="274320"/>
          </a:xfrm>
          <a:prstGeom prst="rect">
            <a:avLst/>
          </a:prstGeom>
          <a:noFill/>
        </p:spPr>
        <p:txBody>
          <a:bodyPr wrap="square" lIns="0" tIns="0" rIns="0" bIns="0" anchor="ctr">
            <a:spAutoFit/>
          </a:bodyPr>
          <a:lstStyle/>
          <a:p>
            <a:pPr algn="ctr">
              <a:lnSpc>
                <a:spcPct val="105000"/>
              </a:lnSpc>
              <a:spcBef>
                <a:spcPts val="0"/>
              </a:spcBef>
              <a:spcAft>
                <a:spcPts val="500"/>
              </a:spcAft>
            </a:pPr>
            <a:r>
              <a:rPr sz="1500" b="0" i="1">
                <a:solidFill>
                  <a:srgbClr val="3A3A3A"/>
                </a:solidFill>
                <a:latin typeface="Times New Roman"/>
              </a:rPr>
              <a:t>Presented by,</a:t>
            </a:r>
          </a:p>
        </p:txBody>
      </p:sp>
    </p:spTree>
    <p:extLst>
      <p:ext uri="{BB962C8B-B14F-4D97-AF65-F5344CB8AC3E}">
        <p14:creationId xmlns:p14="http://schemas.microsoft.com/office/powerpoint/2010/main" val="4134203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600" b="0" i="0">
                <a:solidFill>
                  <a:srgbClr val="3A3A3A"/>
                </a:solidFill>
                <a:latin typeface="Times New Roman"/>
              </a:rPr>
              <a:t>Introduction</a:t>
            </a:r>
            <a:endParaRPr lang="en-IN" sz="3600" dirty="0"/>
          </a:p>
        </p:txBody>
      </p:sp>
      <p:sp>
        <p:nvSpPr>
          <p:cNvPr id="4" name="Footer Placeholder 3"/>
          <p:cNvSpPr>
            <a:spLocks noGrp="1"/>
          </p:cNvSpPr>
          <p:nvPr>
            <p:ph type="ftr" sz="quarter" idx="11"/>
          </p:nvPr>
        </p:nvSpPr>
        <p:spPr/>
        <p:txBody>
          <a:bodyPr/>
          <a:lstStyle/>
          <a:p>
            <a:r>
              <a:rPr lang="en-US"/>
              <a:t>Introduction to AI Robotics (22AIE214)</a:t>
            </a:r>
            <a:endParaRPr lang="en-IN"/>
          </a:p>
        </p:txBody>
      </p:sp>
      <p:sp>
        <p:nvSpPr>
          <p:cNvPr id="5" name="Slide Number Placeholder 4"/>
          <p:cNvSpPr>
            <a:spLocks noGrp="1"/>
          </p:cNvSpPr>
          <p:nvPr>
            <p:ph type="sldNum" sz="quarter" idx="12"/>
          </p:nvPr>
        </p:nvSpPr>
        <p:spPr/>
        <p:txBody>
          <a:bodyPr/>
          <a:lstStyle/>
          <a:p>
            <a:fld id="{09B341A6-C61A-4A60-A38C-2498703C4B8A}" type="slidenum">
              <a:rPr lang="en-IN" smtClean="0"/>
              <a:t>2</a:t>
            </a:fld>
            <a:endParaRPr lang="en-IN"/>
          </a:p>
        </p:txBody>
      </p:sp>
      <p:sp>
        <p:nvSpPr>
          <p:cNvPr id="6" name="Date Placeholder 5">
            <a:extLst>
              <a:ext uri="{FF2B5EF4-FFF2-40B4-BE49-F238E27FC236}">
                <a16:creationId xmlns:a16="http://schemas.microsoft.com/office/drawing/2014/main" id="{663B61BE-5C92-897E-02C2-68C34FB7B8D9}"/>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TextBox 6"/>
          <p:cNvSpPr txBox="1"/>
          <p:nvPr/>
        </p:nvSpPr>
        <p:spPr>
          <a:xfrm>
            <a:off x="1115568" y="1847088"/>
            <a:ext cx="10058400" cy="658368"/>
          </a:xfrm>
          <a:prstGeom prst="rect">
            <a:avLst/>
          </a:prstGeom>
          <a:noFill/>
        </p:spPr>
        <p:txBody>
          <a:bodyPr wrap="square" lIns="18288" tIns="18288" rIns="18288" bIns="18288" anchor="ctr">
            <a:spAutoFit/>
          </a:bodyPr>
          <a:lstStyle/>
          <a:p>
            <a:pPr algn="l">
              <a:lnSpc>
                <a:spcPct val="105000"/>
              </a:lnSpc>
              <a:spcBef>
                <a:spcPts val="0"/>
              </a:spcBef>
              <a:spcAft>
                <a:spcPts val="0"/>
              </a:spcAft>
            </a:pPr>
            <a:r>
              <a:rPr sz="1800" b="0" i="0">
                <a:solidFill>
                  <a:srgbClr val="3A3A3A"/>
                </a:solidFill>
                <a:latin typeface="Times New Roman"/>
              </a:rPr>
              <a:t>Autonomous mobile robots must follow their intended route while responding to objects around them. This becomes harder when an obstacle moves during the robot’s approach.</a:t>
            </a:r>
          </a:p>
        </p:txBody>
      </p:sp>
      <p:sp>
        <p:nvSpPr>
          <p:cNvPr id="8" name="Rounded Rectangle 7"/>
          <p:cNvSpPr/>
          <p:nvPr/>
        </p:nvSpPr>
        <p:spPr>
          <a:xfrm>
            <a:off x="1143000" y="2697480"/>
            <a:ext cx="3172968" cy="1417320"/>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PATH TRACKING</a:t>
            </a:r>
          </a:p>
          <a:p>
            <a:pPr algn="l">
              <a:lnSpc>
                <a:spcPct val="100000"/>
              </a:lnSpc>
              <a:spcBef>
                <a:spcPts val="200"/>
              </a:spcBef>
              <a:spcAft>
                <a:spcPts val="0"/>
              </a:spcAft>
            </a:pPr>
            <a:r>
              <a:rPr sz="1400">
                <a:solidFill>
                  <a:srgbClr val="3A3A3A"/>
                </a:solidFill>
                <a:latin typeface="Times New Roman"/>
              </a:rPr>
              <a:t>Follow a predefined trajectory while keeping lateral and heading errors under control.</a:t>
            </a:r>
          </a:p>
        </p:txBody>
      </p:sp>
      <p:sp>
        <p:nvSpPr>
          <p:cNvPr id="9" name="Rounded Rectangle 8"/>
          <p:cNvSpPr/>
          <p:nvPr/>
        </p:nvSpPr>
        <p:spPr>
          <a:xfrm>
            <a:off x="4498848" y="2697480"/>
            <a:ext cx="3172968" cy="1417320"/>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OBSTACLE RESPONSE</a:t>
            </a:r>
          </a:p>
          <a:p>
            <a:pPr algn="l">
              <a:lnSpc>
                <a:spcPct val="100000"/>
              </a:lnSpc>
              <a:spcBef>
                <a:spcPts val="200"/>
              </a:spcBef>
              <a:spcAft>
                <a:spcPts val="0"/>
              </a:spcAft>
            </a:pPr>
            <a:r>
              <a:rPr sz="1400">
                <a:solidFill>
                  <a:srgbClr val="3A3A3A"/>
                </a:solidFill>
                <a:latin typeface="Times New Roman"/>
              </a:rPr>
              <a:t>Change speed or direction when the nominal path would lead to an unsafe approach.</a:t>
            </a:r>
          </a:p>
        </p:txBody>
      </p:sp>
      <p:sp>
        <p:nvSpPr>
          <p:cNvPr id="10" name="Rounded Rectangle 9"/>
          <p:cNvSpPr/>
          <p:nvPr/>
        </p:nvSpPr>
        <p:spPr>
          <a:xfrm>
            <a:off x="7854696" y="2697480"/>
            <a:ext cx="3172968" cy="1417320"/>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MOVING OBSTACLES</a:t>
            </a:r>
          </a:p>
          <a:p>
            <a:pPr algn="l">
              <a:lnSpc>
                <a:spcPct val="100000"/>
              </a:lnSpc>
              <a:spcBef>
                <a:spcPts val="200"/>
              </a:spcBef>
              <a:spcAft>
                <a:spcPts val="0"/>
              </a:spcAft>
            </a:pPr>
            <a:r>
              <a:rPr sz="1400">
                <a:solidFill>
                  <a:srgbClr val="3A3A3A"/>
                </a:solidFill>
                <a:latin typeface="Times New Roman"/>
              </a:rPr>
              <a:t>Consider how the robot and obstacle positions may change over the next few seconds.</a:t>
            </a:r>
          </a:p>
        </p:txBody>
      </p:sp>
      <p:sp>
        <p:nvSpPr>
          <p:cNvPr id="11" name="Rounded Rectangle 10"/>
          <p:cNvSpPr/>
          <p:nvPr/>
        </p:nvSpPr>
        <p:spPr>
          <a:xfrm>
            <a:off x="1143000" y="4498848"/>
            <a:ext cx="9884664" cy="1078992"/>
          </a:xfrm>
          <a:prstGeom prst="roundRect">
            <a:avLst/>
          </a:prstGeom>
          <a:solidFill>
            <a:srgbClr val="FAE1D3"/>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THE CORE CHALLENGE</a:t>
            </a:r>
          </a:p>
          <a:p>
            <a:pPr algn="l">
              <a:lnSpc>
                <a:spcPct val="100000"/>
              </a:lnSpc>
              <a:spcBef>
                <a:spcPts val="200"/>
              </a:spcBef>
              <a:spcAft>
                <a:spcPts val="0"/>
              </a:spcAft>
            </a:pPr>
            <a:r>
              <a:rPr sz="1600">
                <a:solidFill>
                  <a:srgbClr val="3A3A3A"/>
                </a:solidFill>
                <a:latin typeface="Times New Roman"/>
              </a:rPr>
              <a:t>Avoid an unsafe approach without losing the intended route or giving up progress toward the goal.</a:t>
            </a:r>
          </a:p>
        </p:txBody>
      </p:sp>
      <p:sp>
        <p:nvSpPr>
          <p:cNvPr id="12" name="TextBox 11"/>
          <p:cNvSpPr txBox="1"/>
          <p:nvPr/>
        </p:nvSpPr>
        <p:spPr>
          <a:xfrm>
            <a:off x="1188720" y="5705856"/>
            <a:ext cx="9875520" cy="347472"/>
          </a:xfrm>
          <a:prstGeom prst="rect">
            <a:avLst/>
          </a:prstGeom>
          <a:noFill/>
        </p:spPr>
        <p:txBody>
          <a:bodyPr wrap="square" lIns="0" tIns="0" rIns="0" bIns="0" anchor="ctr">
            <a:spAutoFit/>
          </a:bodyPr>
          <a:lstStyle/>
          <a:p>
            <a:pPr algn="ctr">
              <a:lnSpc>
                <a:spcPct val="105000"/>
              </a:lnSpc>
              <a:spcBef>
                <a:spcPts val="0"/>
              </a:spcBef>
              <a:spcAft>
                <a:spcPts val="500"/>
              </a:spcAft>
            </a:pPr>
            <a:r>
              <a:rPr sz="1400" b="0" i="1">
                <a:solidFill>
                  <a:srgbClr val="5F5F5F"/>
                </a:solidFill>
                <a:latin typeface="Times New Roman"/>
              </a:rPr>
              <a:t>This project compares Pure Pursuit and Stanley with a predictive safety supervisor between the controller and robot model.</a:t>
            </a:r>
          </a:p>
        </p:txBody>
      </p:sp>
    </p:spTree>
    <p:extLst>
      <p:ext uri="{BB962C8B-B14F-4D97-AF65-F5344CB8AC3E}">
        <p14:creationId xmlns:p14="http://schemas.microsoft.com/office/powerpoint/2010/main" val="1394204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400" b="0" i="0">
                <a:solidFill>
                  <a:srgbClr val="3A3A3A"/>
                </a:solidFill>
                <a:latin typeface="Times New Roman"/>
              </a:rPr>
              <a:t>Problem Statement, Objectives and Tools</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Introduction to AI Robotics (22AIE214)</a:t>
            </a:r>
            <a:endParaRPr lang="en-IN" dirty="0"/>
          </a:p>
        </p:txBody>
      </p:sp>
      <p:sp>
        <p:nvSpPr>
          <p:cNvPr id="5" name="Slide Number Placeholder 4"/>
          <p:cNvSpPr>
            <a:spLocks noGrp="1"/>
          </p:cNvSpPr>
          <p:nvPr>
            <p:ph type="sldNum" sz="quarter" idx="12"/>
          </p:nvPr>
        </p:nvSpPr>
        <p:spPr/>
        <p:txBody>
          <a:bodyPr/>
          <a:lstStyle/>
          <a:p>
            <a:fld id="{09B341A6-C61A-4A60-A38C-2498703C4B8A}" type="slidenum">
              <a:rPr lang="en-IN" smtClean="0"/>
              <a:t>3</a:t>
            </a:fld>
            <a:endParaRPr lang="en-IN"/>
          </a:p>
        </p:txBody>
      </p:sp>
      <p:sp>
        <p:nvSpPr>
          <p:cNvPr id="6" name="Date Placeholder 5">
            <a:extLst>
              <a:ext uri="{FF2B5EF4-FFF2-40B4-BE49-F238E27FC236}">
                <a16:creationId xmlns:a16="http://schemas.microsoft.com/office/drawing/2014/main" id="{4132E02E-4732-56F9-466D-320BA26405CB}"/>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Rounded Rectangle 6"/>
          <p:cNvSpPr/>
          <p:nvPr/>
        </p:nvSpPr>
        <p:spPr>
          <a:xfrm>
            <a:off x="1143000" y="1920240"/>
            <a:ext cx="3886200" cy="3218688"/>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700" b="1">
                <a:solidFill>
                  <a:srgbClr val="BD582C"/>
                </a:solidFill>
                <a:latin typeface="Times New Roman"/>
              </a:rPr>
              <a:t>PROBLEM STATEMENT</a:t>
            </a:r>
          </a:p>
          <a:p>
            <a:pPr algn="l">
              <a:lnSpc>
                <a:spcPct val="100000"/>
              </a:lnSpc>
              <a:spcBef>
                <a:spcPts val="200"/>
              </a:spcBef>
              <a:spcAft>
                <a:spcPts val="0"/>
              </a:spcAft>
            </a:pPr>
            <a:r>
              <a:rPr sz="1520">
                <a:solidFill>
                  <a:srgbClr val="3A3A3A"/>
                </a:solidFill>
                <a:latin typeface="Times New Roman"/>
              </a:rPr>
              <a:t>Following the reference path alone is not enough when an obstacle enters the route. Avoidance can increase tracking error, reduce speed, or leave the robot short of its goal. Moving obstacles add the need to consider future separation.</a:t>
            </a:r>
          </a:p>
        </p:txBody>
      </p:sp>
      <p:sp>
        <p:nvSpPr>
          <p:cNvPr id="8" name="Rounded Rectangle 7"/>
          <p:cNvSpPr/>
          <p:nvPr/>
        </p:nvSpPr>
        <p:spPr>
          <a:xfrm>
            <a:off x="5257800" y="1920240"/>
            <a:ext cx="5715000" cy="3218688"/>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700" b="1">
                <a:solidFill>
                  <a:srgbClr val="BD582C"/>
                </a:solidFill>
                <a:latin typeface="Times New Roman"/>
              </a:rPr>
              <a:t>PROJECT OBJECTIVES</a:t>
            </a:r>
          </a:p>
          <a:p>
            <a:pPr algn="l">
              <a:lnSpc>
                <a:spcPct val="100000"/>
              </a:lnSpc>
              <a:spcBef>
                <a:spcPts val="200"/>
              </a:spcBef>
              <a:spcAft>
                <a:spcPts val="0"/>
              </a:spcAft>
            </a:pPr>
            <a:r>
              <a:rPr sz="1450">
                <a:solidFill>
                  <a:srgbClr val="3A3A3A"/>
                </a:solidFill>
                <a:latin typeface="Times New Roman"/>
              </a:rPr>
              <a:t>1. Model differential-drive motion in MATLAB and Simulink.
2. Implement Pure Pursuit and Stanley as alternative path trackers.
3. Add a predictive safety supervisor for obstacle-related risks.
4. Test five static and dynamic obstacle scenarios.
5. Compare tracking error, clearance, collision status and goal reaching.</a:t>
            </a:r>
          </a:p>
        </p:txBody>
      </p:sp>
      <p:sp>
        <p:nvSpPr>
          <p:cNvPr id="9" name="Rounded Rectangle 8"/>
          <p:cNvSpPr/>
          <p:nvPr/>
        </p:nvSpPr>
        <p:spPr>
          <a:xfrm>
            <a:off x="1143000" y="5349240"/>
            <a:ext cx="4800600" cy="713232"/>
          </a:xfrm>
          <a:prstGeom prst="roundRect">
            <a:avLst/>
          </a:prstGeom>
          <a:solidFill>
            <a:srgbClr val="FAE1D3"/>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550" b="1">
                <a:solidFill>
                  <a:srgbClr val="BD582C"/>
                </a:solidFill>
                <a:latin typeface="Times New Roman"/>
              </a:rPr>
              <a:t>MATLAB</a:t>
            </a:r>
          </a:p>
          <a:p>
            <a:pPr algn="l">
              <a:lnSpc>
                <a:spcPct val="100000"/>
              </a:lnSpc>
              <a:spcBef>
                <a:spcPts val="200"/>
              </a:spcBef>
              <a:spcAft>
                <a:spcPts val="0"/>
              </a:spcAft>
            </a:pPr>
            <a:r>
              <a:rPr sz="1270">
                <a:solidFill>
                  <a:srgbClr val="3A3A3A"/>
                </a:solidFill>
                <a:latin typeface="Times New Roman"/>
              </a:rPr>
              <a:t>Controller calculations, simulation scripts and trajectory plots.</a:t>
            </a:r>
          </a:p>
        </p:txBody>
      </p:sp>
      <p:sp>
        <p:nvSpPr>
          <p:cNvPr id="10" name="Rounded Rectangle 9"/>
          <p:cNvSpPr/>
          <p:nvPr/>
        </p:nvSpPr>
        <p:spPr>
          <a:xfrm>
            <a:off x="6199632" y="5349240"/>
            <a:ext cx="4773168" cy="713232"/>
          </a:xfrm>
          <a:prstGeom prst="roundRect">
            <a:avLst/>
          </a:prstGeom>
          <a:solidFill>
            <a:srgbClr val="FAE1D3"/>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550" b="1">
                <a:solidFill>
                  <a:srgbClr val="BD582C"/>
                </a:solidFill>
                <a:latin typeface="Times New Roman"/>
              </a:rPr>
              <a:t>SIMULINK</a:t>
            </a:r>
          </a:p>
          <a:p>
            <a:pPr algn="l">
              <a:lnSpc>
                <a:spcPct val="100000"/>
              </a:lnSpc>
              <a:spcBef>
                <a:spcPts val="200"/>
              </a:spcBef>
              <a:spcAft>
                <a:spcPts val="0"/>
              </a:spcAft>
            </a:pPr>
            <a:r>
              <a:rPr sz="1270">
                <a:solidFill>
                  <a:srgbClr val="3A3A3A"/>
                </a:solidFill>
                <a:latin typeface="Times New Roman"/>
              </a:rPr>
              <a:t>Robot-motion model and integration of control-system components.</a:t>
            </a:r>
          </a:p>
        </p:txBody>
      </p:sp>
    </p:spTree>
    <p:extLst>
      <p:ext uri="{BB962C8B-B14F-4D97-AF65-F5344CB8AC3E}">
        <p14:creationId xmlns:p14="http://schemas.microsoft.com/office/powerpoint/2010/main" val="2135808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eaLnBrk="0" fontAlgn="base" hangingPunct="0">
              <a:lnSpc>
                <a:spcPct val="100000"/>
              </a:lnSpc>
              <a:spcBef>
                <a:spcPts val="0"/>
              </a:spcBef>
              <a:spcAft>
                <a:spcPts val="500"/>
              </a:spcAft>
            </a:pPr>
            <a:r>
              <a:rPr sz="3600" b="0" i="0">
                <a:solidFill>
                  <a:srgbClr val="3A3A3A"/>
                </a:solidFill>
                <a:latin typeface="Times New Roman"/>
              </a:rPr>
              <a:t>Methodology</a:t>
            </a:r>
          </a:p>
        </p:txBody>
      </p:sp>
      <p:sp>
        <p:nvSpPr>
          <p:cNvPr id="6" name="Rectangle 1"/>
          <p:cNvSpPr>
            <a:spLocks noGrp="1" noChangeArrowheads="1"/>
          </p:cNvSpPr>
          <p:nvPr>
            <p:ph idx="1"/>
          </p:nvPr>
        </p:nvSpPr>
        <p:spPr bwMode="auto">
          <a:xfrm>
            <a:off x="1097280" y="2352071"/>
            <a:ext cx="1051560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indent="0" algn="l" defTabSz="914400" rtl="0" eaLnBrk="0" fontAlgn="base" latinLnBrk="0" hangingPunct="0">
              <a:lnSpc>
                <a:spcPct val="105000"/>
              </a:lnSpc>
              <a:spcBef>
                <a:spcPts val="0"/>
              </a:spcBef>
              <a:spcAft>
                <a:spcPts val="500"/>
              </a:spcAft>
              <a:buClrTx/>
              <a:buSzTx/>
              <a:buFontTx/>
              <a:buNone/>
              <a:tabLst/>
            </a:pPr>
            <a:r>
              <a:rPr sz="1600" b="0" i="1">
                <a:solidFill>
                  <a:srgbClr val="5F5F5F"/>
                </a:solidFill>
                <a:latin typeface="Times New Roman"/>
              </a:rPr>
              <a:t>Both controllers generate a nominal command; the safety layer checks predicted motion before it is applied.</a:t>
            </a:r>
          </a:p>
        </p:txBody>
      </p:sp>
      <p:sp>
        <p:nvSpPr>
          <p:cNvPr id="4" name="Footer Placeholder 3"/>
          <p:cNvSpPr>
            <a:spLocks noGrp="1"/>
          </p:cNvSpPr>
          <p:nvPr>
            <p:ph type="ftr" sz="quarter" idx="11"/>
          </p:nvPr>
        </p:nvSpPr>
        <p:spPr/>
        <p:txBody>
          <a:bodyPr/>
          <a:lstStyle/>
          <a:p>
            <a:r>
              <a:rPr lang="en-US"/>
              <a:t>Introduction to AI Robotics (22AIE214)</a:t>
            </a:r>
            <a:endParaRPr lang="en-IN"/>
          </a:p>
        </p:txBody>
      </p:sp>
      <p:sp>
        <p:nvSpPr>
          <p:cNvPr id="5" name="Slide Number Placeholder 4"/>
          <p:cNvSpPr>
            <a:spLocks noGrp="1"/>
          </p:cNvSpPr>
          <p:nvPr>
            <p:ph type="sldNum" sz="quarter" idx="12"/>
          </p:nvPr>
        </p:nvSpPr>
        <p:spPr/>
        <p:txBody>
          <a:bodyPr/>
          <a:lstStyle/>
          <a:p>
            <a:fld id="{09B341A6-C61A-4A60-A38C-2498703C4B8A}" type="slidenum">
              <a:rPr lang="en-IN" smtClean="0"/>
              <a:t>4</a:t>
            </a:fld>
            <a:endParaRPr lang="en-IN"/>
          </a:p>
        </p:txBody>
      </p:sp>
      <p:sp>
        <p:nvSpPr>
          <p:cNvPr id="3" name="Date Placeholder 2">
            <a:extLst>
              <a:ext uri="{FF2B5EF4-FFF2-40B4-BE49-F238E27FC236}">
                <a16:creationId xmlns:a16="http://schemas.microsoft.com/office/drawing/2014/main" id="{200F0394-A30F-DEC6-D226-4E33E6713CCE}"/>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Rounded Rectangle 6"/>
          <p:cNvSpPr/>
          <p:nvPr/>
        </p:nvSpPr>
        <p:spPr>
          <a:xfrm>
            <a:off x="1143000" y="2697480"/>
            <a:ext cx="3108960" cy="1225296"/>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PURE PURSUIT</a:t>
            </a:r>
          </a:p>
          <a:p>
            <a:pPr algn="l">
              <a:lnSpc>
                <a:spcPct val="100000"/>
              </a:lnSpc>
              <a:spcBef>
                <a:spcPts val="200"/>
              </a:spcBef>
              <a:spcAft>
                <a:spcPts val="0"/>
              </a:spcAft>
            </a:pPr>
            <a:r>
              <a:rPr sz="1340">
                <a:solidFill>
                  <a:srgbClr val="3A3A3A"/>
                </a:solidFill>
                <a:latin typeface="Times New Roman"/>
              </a:rPr>
              <a:t>Targets a look-ahead point and turns toward it.
ω = 2v sin(α) / Ld</a:t>
            </a:r>
          </a:p>
        </p:txBody>
      </p:sp>
      <p:sp>
        <p:nvSpPr>
          <p:cNvPr id="8" name="Rounded Rectangle 7"/>
          <p:cNvSpPr/>
          <p:nvPr/>
        </p:nvSpPr>
        <p:spPr>
          <a:xfrm>
            <a:off x="4544568" y="2697480"/>
            <a:ext cx="3108960" cy="1225296"/>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600" b="1">
                <a:solidFill>
                  <a:srgbClr val="BD582C"/>
                </a:solidFill>
                <a:latin typeface="Times New Roman"/>
              </a:rPr>
              <a:t>STANLEY</a:t>
            </a:r>
          </a:p>
          <a:p>
            <a:pPr algn="l">
              <a:lnSpc>
                <a:spcPct val="100000"/>
              </a:lnSpc>
              <a:spcBef>
                <a:spcPts val="200"/>
              </a:spcBef>
              <a:spcAft>
                <a:spcPts val="0"/>
              </a:spcAft>
            </a:pPr>
            <a:r>
              <a:rPr sz="1340">
                <a:solidFill>
                  <a:srgbClr val="3A3A3A"/>
                </a:solidFill>
                <a:latin typeface="Times New Roman"/>
              </a:rPr>
              <a:t>Combines heading error with cross-track error to correct orientation and lateral deviation.</a:t>
            </a:r>
          </a:p>
        </p:txBody>
      </p:sp>
      <p:sp>
        <p:nvSpPr>
          <p:cNvPr id="9" name="Rounded Rectangle 8"/>
          <p:cNvSpPr/>
          <p:nvPr/>
        </p:nvSpPr>
        <p:spPr>
          <a:xfrm>
            <a:off x="7946136" y="2697480"/>
            <a:ext cx="3108960" cy="1225296"/>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500" b="1">
                <a:solidFill>
                  <a:srgbClr val="BD582C"/>
                </a:solidFill>
                <a:latin typeface="Times New Roman"/>
              </a:rPr>
              <a:t>PREDICTIVE SAFETY</a:t>
            </a:r>
          </a:p>
          <a:p>
            <a:pPr algn="l">
              <a:lnSpc>
                <a:spcPct val="100000"/>
              </a:lnSpc>
              <a:spcBef>
                <a:spcPts val="200"/>
              </a:spcBef>
              <a:spcAft>
                <a:spcPts val="0"/>
              </a:spcAft>
            </a:pPr>
            <a:r>
              <a:rPr sz="1300">
                <a:solidFill>
                  <a:srgbClr val="3A3A3A"/>
                </a:solidFill>
                <a:latin typeface="Times New Roman"/>
              </a:rPr>
              <a:t>Evaluates candidate commands relative to predicted obstacle positions; may reduce speed or change turning.</a:t>
            </a:r>
          </a:p>
        </p:txBody>
      </p:sp>
      <p:sp>
        <p:nvSpPr>
          <p:cNvPr id="10" name="TextBox 9"/>
          <p:cNvSpPr txBox="1"/>
          <p:nvPr/>
        </p:nvSpPr>
        <p:spPr>
          <a:xfrm>
            <a:off x="1143000" y="4133087"/>
            <a:ext cx="9966960" cy="256032"/>
          </a:xfrm>
          <a:prstGeom prst="rect">
            <a:avLst/>
          </a:prstGeom>
          <a:noFill/>
        </p:spPr>
        <p:txBody>
          <a:bodyPr wrap="square" lIns="0" tIns="0" rIns="0" bIns="0" anchor="ctr">
            <a:spAutoFit/>
          </a:bodyPr>
          <a:lstStyle/>
          <a:p>
            <a:pPr algn="l">
              <a:lnSpc>
                <a:spcPct val="105000"/>
              </a:lnSpc>
              <a:spcBef>
                <a:spcPts val="0"/>
              </a:spcBef>
              <a:spcAft>
                <a:spcPts val="500"/>
              </a:spcAft>
            </a:pPr>
            <a:r>
              <a:rPr sz="1550" b="1" i="0">
                <a:solidFill>
                  <a:srgbClr val="BD582C"/>
                </a:solidFill>
                <a:latin typeface="Times New Roman"/>
              </a:rPr>
              <a:t>CONTROL PIPELINE</a:t>
            </a:r>
          </a:p>
        </p:txBody>
      </p:sp>
      <p:sp>
        <p:nvSpPr>
          <p:cNvPr id="11" name="Rounded Rectangle 10"/>
          <p:cNvSpPr/>
          <p:nvPr/>
        </p:nvSpPr>
        <p:spPr>
          <a:xfrm>
            <a:off x="1143000" y="4462272"/>
            <a:ext cx="1700784" cy="566928"/>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lnSpc>
                <a:spcPct val="100000"/>
              </a:lnSpc>
              <a:spcBef>
                <a:spcPts val="0"/>
              </a:spcBef>
              <a:spcAft>
                <a:spcPts val="500"/>
              </a:spcAft>
            </a:pPr>
            <a:r>
              <a:rPr sz="1200" b="0" i="0">
                <a:solidFill>
                  <a:srgbClr val="3A3A3A"/>
                </a:solidFill>
                <a:latin typeface="Times New Roman"/>
              </a:rPr>
              <a:t>Reference path
 + robot pose</a:t>
            </a:r>
          </a:p>
        </p:txBody>
      </p:sp>
      <p:sp>
        <p:nvSpPr>
          <p:cNvPr id="12" name="TextBox 11"/>
          <p:cNvSpPr txBox="1"/>
          <p:nvPr/>
        </p:nvSpPr>
        <p:spPr>
          <a:xfrm>
            <a:off x="2862072" y="4581144"/>
            <a:ext cx="347472"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900" b="1" i="0">
                <a:solidFill>
                  <a:srgbClr val="EB7D16"/>
                </a:solidFill>
                <a:latin typeface="Times New Roman"/>
              </a:rPr>
              <a:t>→</a:t>
            </a:r>
          </a:p>
        </p:txBody>
      </p:sp>
      <p:sp>
        <p:nvSpPr>
          <p:cNvPr id="13" name="Rounded Rectangle 12"/>
          <p:cNvSpPr/>
          <p:nvPr/>
        </p:nvSpPr>
        <p:spPr>
          <a:xfrm>
            <a:off x="3255264" y="4462272"/>
            <a:ext cx="1700784" cy="566928"/>
          </a:xfrm>
          <a:prstGeom prst="roundRect">
            <a:avLst/>
          </a:prstGeom>
          <a:solidFill>
            <a:srgbClr val="FAE1D3"/>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lnSpc>
                <a:spcPct val="100000"/>
              </a:lnSpc>
              <a:spcBef>
                <a:spcPts val="0"/>
              </a:spcBef>
              <a:spcAft>
                <a:spcPts val="500"/>
              </a:spcAft>
            </a:pPr>
            <a:r>
              <a:rPr sz="1200" b="1" i="0">
                <a:solidFill>
                  <a:srgbClr val="3A3A3A"/>
                </a:solidFill>
                <a:latin typeface="Times New Roman"/>
              </a:rPr>
              <a:t>Pure Pursuit
 or Stanley</a:t>
            </a:r>
          </a:p>
        </p:txBody>
      </p:sp>
      <p:sp>
        <p:nvSpPr>
          <p:cNvPr id="14" name="TextBox 13"/>
          <p:cNvSpPr txBox="1"/>
          <p:nvPr/>
        </p:nvSpPr>
        <p:spPr>
          <a:xfrm>
            <a:off x="4974336" y="4581144"/>
            <a:ext cx="347472"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900" b="1" i="0">
                <a:solidFill>
                  <a:srgbClr val="EB7D16"/>
                </a:solidFill>
                <a:latin typeface="Times New Roman"/>
              </a:rPr>
              <a:t>→</a:t>
            </a:r>
          </a:p>
        </p:txBody>
      </p:sp>
      <p:sp>
        <p:nvSpPr>
          <p:cNvPr id="15" name="Rounded Rectangle 14"/>
          <p:cNvSpPr/>
          <p:nvPr/>
        </p:nvSpPr>
        <p:spPr>
          <a:xfrm>
            <a:off x="5367528" y="4462272"/>
            <a:ext cx="1700784" cy="566928"/>
          </a:xfrm>
          <a:prstGeom prst="roundRect">
            <a:avLst/>
          </a:prstGeom>
          <a:solidFill>
            <a:srgbClr val="FAE1D3"/>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lnSpc>
                <a:spcPct val="100000"/>
              </a:lnSpc>
              <a:spcBef>
                <a:spcPts val="0"/>
              </a:spcBef>
              <a:spcAft>
                <a:spcPts val="500"/>
              </a:spcAft>
            </a:pPr>
            <a:r>
              <a:rPr sz="1200" b="1" i="0">
                <a:solidFill>
                  <a:srgbClr val="3A3A3A"/>
                </a:solidFill>
                <a:latin typeface="Times New Roman"/>
              </a:rPr>
              <a:t>Safety
 supervisor</a:t>
            </a:r>
          </a:p>
        </p:txBody>
      </p:sp>
      <p:sp>
        <p:nvSpPr>
          <p:cNvPr id="16" name="TextBox 15"/>
          <p:cNvSpPr txBox="1"/>
          <p:nvPr/>
        </p:nvSpPr>
        <p:spPr>
          <a:xfrm>
            <a:off x="7086600" y="4581144"/>
            <a:ext cx="347472"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900" b="1" i="0">
                <a:solidFill>
                  <a:srgbClr val="EB7D16"/>
                </a:solidFill>
                <a:latin typeface="Times New Roman"/>
              </a:rPr>
              <a:t>→</a:t>
            </a:r>
          </a:p>
        </p:txBody>
      </p:sp>
      <p:sp>
        <p:nvSpPr>
          <p:cNvPr id="17" name="Rounded Rectangle 16"/>
          <p:cNvSpPr/>
          <p:nvPr/>
        </p:nvSpPr>
        <p:spPr>
          <a:xfrm>
            <a:off x="7479792" y="4462272"/>
            <a:ext cx="1700784" cy="566928"/>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lnSpc>
                <a:spcPct val="100000"/>
              </a:lnSpc>
              <a:spcBef>
                <a:spcPts val="0"/>
              </a:spcBef>
              <a:spcAft>
                <a:spcPts val="500"/>
              </a:spcAft>
            </a:pPr>
            <a:r>
              <a:rPr sz="1200" b="0" i="0">
                <a:solidFill>
                  <a:srgbClr val="3A3A3A"/>
                </a:solidFill>
                <a:latin typeface="Times New Roman"/>
              </a:rPr>
              <a:t>Differential-drive
 robot model</a:t>
            </a:r>
          </a:p>
        </p:txBody>
      </p:sp>
      <p:sp>
        <p:nvSpPr>
          <p:cNvPr id="18" name="TextBox 17"/>
          <p:cNvSpPr txBox="1"/>
          <p:nvPr/>
        </p:nvSpPr>
        <p:spPr>
          <a:xfrm>
            <a:off x="9198863" y="4581144"/>
            <a:ext cx="347472"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900" b="1" i="0">
                <a:solidFill>
                  <a:srgbClr val="EB7D16"/>
                </a:solidFill>
                <a:latin typeface="Times New Roman"/>
              </a:rPr>
              <a:t>→</a:t>
            </a:r>
          </a:p>
        </p:txBody>
      </p:sp>
      <p:sp>
        <p:nvSpPr>
          <p:cNvPr id="19" name="Rounded Rectangle 18"/>
          <p:cNvSpPr/>
          <p:nvPr/>
        </p:nvSpPr>
        <p:spPr>
          <a:xfrm>
            <a:off x="9592056" y="4462272"/>
            <a:ext cx="1700784" cy="566928"/>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lnSpc>
                <a:spcPct val="100000"/>
              </a:lnSpc>
              <a:spcBef>
                <a:spcPts val="0"/>
              </a:spcBef>
              <a:spcAft>
                <a:spcPts val="500"/>
              </a:spcAft>
            </a:pPr>
            <a:r>
              <a:rPr sz="1200" b="0" i="0">
                <a:solidFill>
                  <a:srgbClr val="3A3A3A"/>
                </a:solidFill>
                <a:latin typeface="Times New Roman"/>
              </a:rPr>
              <a:t>Updated state
 + logs</a:t>
            </a:r>
          </a:p>
        </p:txBody>
      </p:sp>
      <p:sp>
        <p:nvSpPr>
          <p:cNvPr id="20" name="TextBox 19"/>
          <p:cNvSpPr txBox="1"/>
          <p:nvPr/>
        </p:nvSpPr>
        <p:spPr>
          <a:xfrm>
            <a:off x="1143000" y="5148072"/>
            <a:ext cx="9966960" cy="246888"/>
          </a:xfrm>
          <a:prstGeom prst="rect">
            <a:avLst/>
          </a:prstGeom>
          <a:noFill/>
        </p:spPr>
        <p:txBody>
          <a:bodyPr wrap="square" lIns="0" tIns="0" rIns="0" bIns="0" anchor="ctr">
            <a:spAutoFit/>
          </a:bodyPr>
          <a:lstStyle/>
          <a:p>
            <a:pPr algn="l">
              <a:lnSpc>
                <a:spcPct val="105000"/>
              </a:lnSpc>
              <a:spcBef>
                <a:spcPts val="0"/>
              </a:spcBef>
              <a:spcAft>
                <a:spcPts val="500"/>
              </a:spcAft>
            </a:pPr>
            <a:r>
              <a:rPr sz="1550" b="1" i="0">
                <a:solidFill>
                  <a:srgbClr val="BD582C"/>
                </a:solidFill>
                <a:latin typeface="Times New Roman"/>
              </a:rPr>
              <a:t>FIVE SIMULATION SCENARIOS</a:t>
            </a:r>
          </a:p>
        </p:txBody>
      </p:sp>
      <p:sp>
        <p:nvSpPr>
          <p:cNvPr id="21" name="Rounded Rectangle 20"/>
          <p:cNvSpPr/>
          <p:nvPr/>
        </p:nvSpPr>
        <p:spPr>
          <a:xfrm>
            <a:off x="1143000" y="5468112"/>
            <a:ext cx="1865376" cy="62179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150" b="1">
                <a:solidFill>
                  <a:srgbClr val="BD582C"/>
                </a:solidFill>
                <a:latin typeface="Times New Roman"/>
              </a:rPr>
              <a:t>01  No obstacle</a:t>
            </a:r>
          </a:p>
          <a:p>
            <a:pPr algn="ctr">
              <a:lnSpc>
                <a:spcPct val="100000"/>
              </a:lnSpc>
              <a:spcBef>
                <a:spcPts val="200"/>
              </a:spcBef>
              <a:spcAft>
                <a:spcPts val="0"/>
              </a:spcAft>
            </a:pPr>
            <a:r>
              <a:rPr sz="1120">
                <a:solidFill>
                  <a:srgbClr val="3A3A3A"/>
                </a:solidFill>
                <a:latin typeface="Times New Roman"/>
              </a:rPr>
              <a:t>Baseline</a:t>
            </a:r>
          </a:p>
        </p:txBody>
      </p:sp>
      <p:sp>
        <p:nvSpPr>
          <p:cNvPr id="22" name="Rounded Rectangle 21"/>
          <p:cNvSpPr/>
          <p:nvPr/>
        </p:nvSpPr>
        <p:spPr>
          <a:xfrm>
            <a:off x="3136392" y="5468112"/>
            <a:ext cx="1865376" cy="62179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150" b="1">
                <a:solidFill>
                  <a:srgbClr val="BD582C"/>
                </a:solidFill>
                <a:latin typeface="Times New Roman"/>
              </a:rPr>
              <a:t>02  Static</a:t>
            </a:r>
          </a:p>
          <a:p>
            <a:pPr algn="ctr">
              <a:lnSpc>
                <a:spcPct val="100000"/>
              </a:lnSpc>
              <a:spcBef>
                <a:spcPts val="200"/>
              </a:spcBef>
              <a:spcAft>
                <a:spcPts val="0"/>
              </a:spcAft>
            </a:pPr>
            <a:r>
              <a:rPr sz="1120">
                <a:solidFill>
                  <a:srgbClr val="3A3A3A"/>
                </a:solidFill>
                <a:latin typeface="Times New Roman"/>
              </a:rPr>
              <a:t>At (6.00, 0.45) m</a:t>
            </a:r>
          </a:p>
        </p:txBody>
      </p:sp>
      <p:sp>
        <p:nvSpPr>
          <p:cNvPr id="23" name="Rounded Rectangle 22"/>
          <p:cNvSpPr/>
          <p:nvPr/>
        </p:nvSpPr>
        <p:spPr>
          <a:xfrm>
            <a:off x="5129784" y="5468112"/>
            <a:ext cx="1865376" cy="62179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150" b="1">
                <a:solidFill>
                  <a:srgbClr val="BD582C"/>
                </a:solidFill>
                <a:latin typeface="Times New Roman"/>
              </a:rPr>
              <a:t>03  Slower</a:t>
            </a:r>
          </a:p>
          <a:p>
            <a:pPr algn="ctr">
              <a:lnSpc>
                <a:spcPct val="100000"/>
              </a:lnSpc>
              <a:spcBef>
                <a:spcPts val="200"/>
              </a:spcBef>
              <a:spcAft>
                <a:spcPts val="0"/>
              </a:spcAft>
            </a:pPr>
            <a:r>
              <a:rPr sz="1120">
                <a:solidFill>
                  <a:srgbClr val="3A3A3A"/>
                </a:solidFill>
                <a:latin typeface="Times New Roman"/>
              </a:rPr>
              <a:t>0.10 m/s</a:t>
            </a:r>
          </a:p>
        </p:txBody>
      </p:sp>
      <p:sp>
        <p:nvSpPr>
          <p:cNvPr id="24" name="Rounded Rectangle 23"/>
          <p:cNvSpPr/>
          <p:nvPr/>
        </p:nvSpPr>
        <p:spPr>
          <a:xfrm>
            <a:off x="7123176" y="5468112"/>
            <a:ext cx="1865376" cy="62179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150" b="1">
                <a:solidFill>
                  <a:srgbClr val="BD582C"/>
                </a:solidFill>
                <a:latin typeface="Times New Roman"/>
              </a:rPr>
              <a:t>04  Equal speed</a:t>
            </a:r>
          </a:p>
          <a:p>
            <a:pPr algn="ctr">
              <a:lnSpc>
                <a:spcPct val="100000"/>
              </a:lnSpc>
              <a:spcBef>
                <a:spcPts val="200"/>
              </a:spcBef>
              <a:spcAft>
                <a:spcPts val="0"/>
              </a:spcAft>
            </a:pPr>
            <a:r>
              <a:rPr sz="1120">
                <a:solidFill>
                  <a:srgbClr val="3A3A3A"/>
                </a:solidFill>
                <a:latin typeface="Times New Roman"/>
              </a:rPr>
              <a:t>0.22 m/s</a:t>
            </a:r>
          </a:p>
        </p:txBody>
      </p:sp>
      <p:sp>
        <p:nvSpPr>
          <p:cNvPr id="25" name="Rounded Rectangle 24"/>
          <p:cNvSpPr/>
          <p:nvPr/>
        </p:nvSpPr>
        <p:spPr>
          <a:xfrm>
            <a:off x="9116568" y="5468112"/>
            <a:ext cx="1865376" cy="62179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150" b="1">
                <a:solidFill>
                  <a:srgbClr val="BD582C"/>
                </a:solidFill>
                <a:latin typeface="Times New Roman"/>
              </a:rPr>
              <a:t>05  Faster</a:t>
            </a:r>
          </a:p>
          <a:p>
            <a:pPr algn="ctr">
              <a:lnSpc>
                <a:spcPct val="100000"/>
              </a:lnSpc>
              <a:spcBef>
                <a:spcPts val="200"/>
              </a:spcBef>
              <a:spcAft>
                <a:spcPts val="0"/>
              </a:spcAft>
            </a:pPr>
            <a:r>
              <a:rPr sz="1120">
                <a:solidFill>
                  <a:srgbClr val="3A3A3A"/>
                </a:solidFill>
                <a:latin typeface="Times New Roman"/>
              </a:rPr>
              <a:t>0.30 m/s</a:t>
            </a:r>
          </a:p>
        </p:txBody>
      </p:sp>
      <p:sp>
        <p:nvSpPr>
          <p:cNvPr id="26" name="TextBox 25"/>
          <p:cNvSpPr txBox="1"/>
          <p:nvPr/>
        </p:nvSpPr>
        <p:spPr>
          <a:xfrm>
            <a:off x="1143000" y="6099048"/>
            <a:ext cx="9784080" cy="182880"/>
          </a:xfrm>
          <a:prstGeom prst="rect">
            <a:avLst/>
          </a:prstGeom>
          <a:noFill/>
        </p:spPr>
        <p:txBody>
          <a:bodyPr wrap="square" lIns="0" tIns="0" rIns="0" bIns="0" anchor="ctr">
            <a:spAutoFit/>
          </a:bodyPr>
          <a:lstStyle/>
          <a:p>
            <a:pPr algn="ctr">
              <a:lnSpc>
                <a:spcPct val="105000"/>
              </a:lnSpc>
              <a:spcBef>
                <a:spcPts val="0"/>
              </a:spcBef>
              <a:spcAft>
                <a:spcPts val="500"/>
              </a:spcAft>
            </a:pPr>
            <a:r>
              <a:rPr sz="1050" b="0" i="1">
                <a:solidFill>
                  <a:srgbClr val="5F5F5F"/>
                </a:solidFill>
                <a:latin typeface="Times New Roman"/>
              </a:rPr>
              <a:t>Nominal robot speed: 0.22 m/s. Safety supervision reduces predicted collision risk but cannot guarantee a safe path in every case.</a:t>
            </a:r>
          </a:p>
        </p:txBody>
      </p:sp>
    </p:spTree>
    <p:extLst>
      <p:ext uri="{BB962C8B-B14F-4D97-AF65-F5344CB8AC3E}">
        <p14:creationId xmlns:p14="http://schemas.microsoft.com/office/powerpoint/2010/main" val="1553013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600" b="0" i="0">
                <a:solidFill>
                  <a:srgbClr val="3A3A3A"/>
                </a:solidFill>
                <a:latin typeface="Times New Roman"/>
              </a:rPr>
              <a:t>Flow-chart</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Introduction to AI Robotics (22AIE214)</a:t>
            </a:r>
            <a:endParaRPr lang="en-IN" dirty="0"/>
          </a:p>
        </p:txBody>
      </p:sp>
      <p:sp>
        <p:nvSpPr>
          <p:cNvPr id="5" name="Slide Number Placeholder 4"/>
          <p:cNvSpPr>
            <a:spLocks noGrp="1"/>
          </p:cNvSpPr>
          <p:nvPr>
            <p:ph type="sldNum" sz="quarter" idx="12"/>
          </p:nvPr>
        </p:nvSpPr>
        <p:spPr/>
        <p:txBody>
          <a:bodyPr/>
          <a:lstStyle/>
          <a:p>
            <a:fld id="{09B341A6-C61A-4A60-A38C-2498703C4B8A}" type="slidenum">
              <a:rPr lang="en-IN" smtClean="0"/>
              <a:t>5</a:t>
            </a:fld>
            <a:endParaRPr lang="en-IN"/>
          </a:p>
        </p:txBody>
      </p:sp>
      <p:sp>
        <p:nvSpPr>
          <p:cNvPr id="6" name="Date Placeholder 5">
            <a:extLst>
              <a:ext uri="{FF2B5EF4-FFF2-40B4-BE49-F238E27FC236}">
                <a16:creationId xmlns:a16="http://schemas.microsoft.com/office/drawing/2014/main" id="{916F6C27-101B-109F-2E62-09377F1B302A}"/>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Rounded Rectangle 6"/>
          <p:cNvSpPr/>
          <p:nvPr/>
        </p:nvSpPr>
        <p:spPr>
          <a:xfrm>
            <a:off x="4572000" y="1810512"/>
            <a:ext cx="3063240" cy="365760"/>
          </a:xfrm>
          <a:prstGeom prst="roundRect">
            <a:avLst/>
          </a:prstGeom>
          <a:solidFill>
            <a:srgbClr val="FAE1D3"/>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400" b="1" i="0">
                <a:solidFill>
                  <a:srgbClr val="3A3A3A"/>
                </a:solidFill>
                <a:latin typeface="Times New Roman"/>
              </a:rPr>
              <a:t>START</a:t>
            </a:r>
          </a:p>
        </p:txBody>
      </p:sp>
      <p:sp>
        <p:nvSpPr>
          <p:cNvPr id="8" name="Rounded Rectangle 7"/>
          <p:cNvSpPr/>
          <p:nvPr/>
        </p:nvSpPr>
        <p:spPr>
          <a:xfrm>
            <a:off x="4114800" y="2258568"/>
            <a:ext cx="3977639" cy="402336"/>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310" b="0" i="0">
                <a:solidFill>
                  <a:srgbClr val="3A3A3A"/>
                </a:solidFill>
                <a:latin typeface="Times New Roman"/>
              </a:rPr>
              <a:t>Initialize robot, reference path and scenario</a:t>
            </a:r>
          </a:p>
        </p:txBody>
      </p:sp>
      <p:sp>
        <p:nvSpPr>
          <p:cNvPr id="9" name="Rounded Rectangle 8"/>
          <p:cNvSpPr/>
          <p:nvPr/>
        </p:nvSpPr>
        <p:spPr>
          <a:xfrm>
            <a:off x="4114800" y="2752344"/>
            <a:ext cx="3977639" cy="402336"/>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310" b="0" i="0">
                <a:solidFill>
                  <a:srgbClr val="3A3A3A"/>
                </a:solidFill>
                <a:latin typeface="Times New Roman"/>
              </a:rPr>
              <a:t>Calculate nominal command (Pure Pursuit or Stanley)</a:t>
            </a:r>
          </a:p>
        </p:txBody>
      </p:sp>
      <p:sp>
        <p:nvSpPr>
          <p:cNvPr id="10" name="Rounded Rectangle 9"/>
          <p:cNvSpPr/>
          <p:nvPr/>
        </p:nvSpPr>
        <p:spPr>
          <a:xfrm>
            <a:off x="4114800" y="3246120"/>
            <a:ext cx="3977639" cy="402336"/>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310" b="0" i="0">
                <a:solidFill>
                  <a:srgbClr val="3A3A3A"/>
                </a:solidFill>
                <a:latin typeface="Times New Roman"/>
              </a:rPr>
              <a:t>Predict robot motion and obstacle separation</a:t>
            </a:r>
          </a:p>
        </p:txBody>
      </p:sp>
      <p:cxnSp>
        <p:nvCxnSpPr>
          <p:cNvPr id="11" name="Connector 10"/>
          <p:cNvCxnSpPr/>
          <p:nvPr/>
        </p:nvCxnSpPr>
        <p:spPr>
          <a:xfrm>
            <a:off x="6103620" y="2176272"/>
            <a:ext cx="0" cy="82296"/>
          </a:xfrm>
          <a:prstGeom prst="line">
            <a:avLst/>
          </a:prstGeom>
          <a:ln w="16510">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03620" y="2660904"/>
            <a:ext cx="0" cy="91440"/>
          </a:xfrm>
          <a:prstGeom prst="line">
            <a:avLst/>
          </a:prstGeom>
          <a:ln w="16510">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103620" y="3154680"/>
            <a:ext cx="0" cy="91440"/>
          </a:xfrm>
          <a:prstGeom prst="line">
            <a:avLst/>
          </a:prstGeom>
          <a:ln w="16510">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103620" y="3648456"/>
            <a:ext cx="0" cy="100583"/>
          </a:xfrm>
          <a:prstGeom prst="line">
            <a:avLst/>
          </a:prstGeom>
          <a:ln w="16510">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p:cNvSpPr/>
          <p:nvPr/>
        </p:nvSpPr>
        <p:spPr>
          <a:xfrm>
            <a:off x="4709160" y="3749039"/>
            <a:ext cx="2788920" cy="658368"/>
          </a:xfrm>
          <a:prstGeom prst="diamond">
            <a:avLst/>
          </a:prstGeom>
          <a:solidFill>
            <a:srgbClr val="FAE1D3"/>
          </a:solidFill>
          <a:ln w="16510">
            <a:solidFill>
              <a:srgbClr val="EB7D16"/>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spcBef>
                <a:spcPts val="0"/>
              </a:spcBef>
              <a:spcAft>
                <a:spcPts val="500"/>
              </a:spcAft>
            </a:pPr>
            <a:r>
              <a:rPr sz="1250" b="1" i="0">
                <a:solidFill>
                  <a:srgbClr val="3A3A3A"/>
                </a:solidFill>
                <a:latin typeface="Times New Roman"/>
              </a:rPr>
              <a:t>Safety constraint
met?</a:t>
            </a:r>
          </a:p>
        </p:txBody>
      </p:sp>
      <p:sp>
        <p:nvSpPr>
          <p:cNvPr id="16" name="TextBox 15"/>
          <p:cNvSpPr txBox="1"/>
          <p:nvPr/>
        </p:nvSpPr>
        <p:spPr>
          <a:xfrm>
            <a:off x="3502152" y="4407408"/>
            <a:ext cx="530352" cy="182880"/>
          </a:xfrm>
          <a:prstGeom prst="rect">
            <a:avLst/>
          </a:prstGeom>
          <a:noFill/>
        </p:spPr>
        <p:txBody>
          <a:bodyPr wrap="square" lIns="0" tIns="0" rIns="0" bIns="0" anchor="ctr">
            <a:spAutoFit/>
          </a:bodyPr>
          <a:lstStyle/>
          <a:p>
            <a:pPr algn="ctr">
              <a:lnSpc>
                <a:spcPct val="105000"/>
              </a:lnSpc>
              <a:spcBef>
                <a:spcPts val="0"/>
              </a:spcBef>
              <a:spcAft>
                <a:spcPts val="500"/>
              </a:spcAft>
            </a:pPr>
            <a:r>
              <a:rPr sz="1050" b="1" i="0">
                <a:solidFill>
                  <a:srgbClr val="328C64"/>
                </a:solidFill>
                <a:latin typeface="Times New Roman"/>
              </a:rPr>
              <a:t>YES</a:t>
            </a:r>
          </a:p>
        </p:txBody>
      </p:sp>
      <p:sp>
        <p:nvSpPr>
          <p:cNvPr id="17" name="TextBox 16"/>
          <p:cNvSpPr txBox="1"/>
          <p:nvPr/>
        </p:nvSpPr>
        <p:spPr>
          <a:xfrm>
            <a:off x="8540496" y="4407408"/>
            <a:ext cx="457200" cy="182880"/>
          </a:xfrm>
          <a:prstGeom prst="rect">
            <a:avLst/>
          </a:prstGeom>
          <a:noFill/>
        </p:spPr>
        <p:txBody>
          <a:bodyPr wrap="square" lIns="0" tIns="0" rIns="0" bIns="0" anchor="ctr">
            <a:spAutoFit/>
          </a:bodyPr>
          <a:lstStyle/>
          <a:p>
            <a:pPr algn="ctr">
              <a:lnSpc>
                <a:spcPct val="105000"/>
              </a:lnSpc>
              <a:spcBef>
                <a:spcPts val="0"/>
              </a:spcBef>
              <a:spcAft>
                <a:spcPts val="500"/>
              </a:spcAft>
            </a:pPr>
            <a:r>
              <a:rPr sz="1050" b="1" i="0">
                <a:solidFill>
                  <a:srgbClr val="BD582C"/>
                </a:solidFill>
                <a:latin typeface="Times New Roman"/>
              </a:rPr>
              <a:t>NO</a:t>
            </a:r>
          </a:p>
        </p:txBody>
      </p:sp>
      <p:sp>
        <p:nvSpPr>
          <p:cNvPr id="18" name="Rounded Rectangle 17"/>
          <p:cNvSpPr/>
          <p:nvPr/>
        </p:nvSpPr>
        <p:spPr>
          <a:xfrm>
            <a:off x="1371600" y="4599432"/>
            <a:ext cx="3749039" cy="457200"/>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320" b="1" i="0">
                <a:solidFill>
                  <a:srgbClr val="3A3A3A"/>
                </a:solidFill>
                <a:latin typeface="Times New Roman"/>
              </a:rPr>
              <a:t>Retain nominal command</a:t>
            </a:r>
          </a:p>
        </p:txBody>
      </p:sp>
      <p:sp>
        <p:nvSpPr>
          <p:cNvPr id="19" name="Rounded Rectangle 18"/>
          <p:cNvSpPr/>
          <p:nvPr/>
        </p:nvSpPr>
        <p:spPr>
          <a:xfrm>
            <a:off x="7040880" y="4599432"/>
            <a:ext cx="3749039" cy="457200"/>
          </a:xfrm>
          <a:prstGeom prst="roundRect">
            <a:avLst/>
          </a:prstGeom>
          <a:solidFill>
            <a:srgbClr val="FFF6EF"/>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270" b="1" i="0">
                <a:solidFill>
                  <a:srgbClr val="3A3A3A"/>
                </a:solidFill>
                <a:latin typeface="Times New Roman"/>
              </a:rPr>
              <a:t>Evaluate alternative velocity commands</a:t>
            </a:r>
          </a:p>
        </p:txBody>
      </p:sp>
      <p:cxnSp>
        <p:nvCxnSpPr>
          <p:cNvPr id="20" name="Connector 19"/>
          <p:cNvCxnSpPr/>
          <p:nvPr/>
        </p:nvCxnSpPr>
        <p:spPr>
          <a:xfrm flipH="1">
            <a:off x="3246120" y="4315968"/>
            <a:ext cx="1828800" cy="283464"/>
          </a:xfrm>
          <a:prstGeom prst="line">
            <a:avLst/>
          </a:prstGeom>
          <a:ln w="15875">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132320" y="4315968"/>
            <a:ext cx="1783080" cy="283464"/>
          </a:xfrm>
          <a:prstGeom prst="line">
            <a:avLst/>
          </a:prstGeom>
          <a:ln w="15875">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273552" y="5193792"/>
            <a:ext cx="5614416" cy="393192"/>
          </a:xfrm>
          <a:prstGeom prst="roundRect">
            <a:avLst/>
          </a:prstGeom>
          <a:solidFill>
            <a:srgbClr val="FAE1D3"/>
          </a:solidFill>
          <a:ln w="13970">
            <a:solidFill>
              <a:srgbClr val="BD582C"/>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0000"/>
              </a:lnSpc>
              <a:spcBef>
                <a:spcPts val="0"/>
              </a:spcBef>
              <a:spcAft>
                <a:spcPts val="500"/>
              </a:spcAft>
            </a:pPr>
            <a:r>
              <a:rPr sz="1300" b="1" i="0">
                <a:solidFill>
                  <a:srgbClr val="3A3A3A"/>
                </a:solidFill>
                <a:latin typeface="Times New Roman"/>
              </a:rPr>
              <a:t>Select final command • Update robot state • Record data</a:t>
            </a:r>
          </a:p>
        </p:txBody>
      </p:sp>
      <p:cxnSp>
        <p:nvCxnSpPr>
          <p:cNvPr id="23" name="Connector 22"/>
          <p:cNvCxnSpPr/>
          <p:nvPr/>
        </p:nvCxnSpPr>
        <p:spPr>
          <a:xfrm>
            <a:off x="3246120" y="5056632"/>
            <a:ext cx="1371600" cy="137160"/>
          </a:xfrm>
          <a:prstGeom prst="line">
            <a:avLst/>
          </a:prstGeom>
          <a:ln w="15875">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543800" y="5056632"/>
            <a:ext cx="1371600" cy="137160"/>
          </a:xfrm>
          <a:prstGeom prst="line">
            <a:avLst/>
          </a:prstGeom>
          <a:ln w="15875">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80760" y="5532120"/>
            <a:ext cx="0" cy="45720"/>
          </a:xfrm>
          <a:prstGeom prst="line">
            <a:avLst/>
          </a:prstGeom>
          <a:ln w="15875">
            <a:solidFill>
              <a:srgbClr val="BD582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Diamond 25"/>
          <p:cNvSpPr/>
          <p:nvPr/>
        </p:nvSpPr>
        <p:spPr>
          <a:xfrm>
            <a:off x="4517136" y="5577840"/>
            <a:ext cx="3127248" cy="438912"/>
          </a:xfrm>
          <a:prstGeom prst="diamond">
            <a:avLst/>
          </a:prstGeom>
          <a:solidFill>
            <a:srgbClr val="FAE1D3"/>
          </a:solidFill>
          <a:ln w="15875">
            <a:solidFill>
              <a:srgbClr val="EB7D16"/>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spcBef>
                <a:spcPts val="0"/>
              </a:spcBef>
              <a:spcAft>
                <a:spcPts val="500"/>
              </a:spcAft>
            </a:pPr>
            <a:r>
              <a:rPr sz="1240" b="1" i="0">
                <a:solidFill>
                  <a:srgbClr val="3A3A3A"/>
                </a:solidFill>
                <a:latin typeface="Times New Roman"/>
              </a:rPr>
              <a:t>Goal or time limit reached?</a:t>
            </a:r>
          </a:p>
        </p:txBody>
      </p:sp>
      <p:sp>
        <p:nvSpPr>
          <p:cNvPr id="27" name="TextBox 26"/>
          <p:cNvSpPr txBox="1"/>
          <p:nvPr/>
        </p:nvSpPr>
        <p:spPr>
          <a:xfrm>
            <a:off x="1298448" y="6044184"/>
            <a:ext cx="9646920" cy="173736"/>
          </a:xfrm>
          <a:prstGeom prst="rect">
            <a:avLst/>
          </a:prstGeom>
          <a:noFill/>
        </p:spPr>
        <p:txBody>
          <a:bodyPr wrap="square" lIns="0" tIns="0" rIns="0" bIns="0" anchor="ctr">
            <a:spAutoFit/>
          </a:bodyPr>
          <a:lstStyle/>
          <a:p>
            <a:pPr algn="ctr">
              <a:lnSpc>
                <a:spcPct val="105000"/>
              </a:lnSpc>
              <a:spcBef>
                <a:spcPts val="0"/>
              </a:spcBef>
              <a:spcAft>
                <a:spcPts val="500"/>
              </a:spcAft>
            </a:pPr>
            <a:r>
              <a:rPr sz="1030" b="0" i="0">
                <a:solidFill>
                  <a:srgbClr val="5F5F5F"/>
                </a:solidFill>
                <a:latin typeface="Times New Roman"/>
              </a:rPr>
              <a:t>YES → Analyse tracking, clearance, collision and goal metrics     |     NO → Repeat the control loop</a:t>
            </a:r>
          </a:p>
        </p:txBody>
      </p:sp>
    </p:spTree>
    <p:extLst>
      <p:ext uri="{BB962C8B-B14F-4D97-AF65-F5344CB8AC3E}">
        <p14:creationId xmlns:p14="http://schemas.microsoft.com/office/powerpoint/2010/main" val="4215953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600" b="0" i="0">
                <a:solidFill>
                  <a:srgbClr val="3A3A3A"/>
                </a:solidFill>
                <a:latin typeface="Times New Roman"/>
              </a:rPr>
              <a:t>Simulation Result</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Introduction to AI Robotics (22AIE214)</a:t>
            </a:r>
            <a:endParaRPr lang="en-IN" dirty="0"/>
          </a:p>
        </p:txBody>
      </p:sp>
      <p:sp>
        <p:nvSpPr>
          <p:cNvPr id="5" name="Slide Number Placeholder 4"/>
          <p:cNvSpPr>
            <a:spLocks noGrp="1"/>
          </p:cNvSpPr>
          <p:nvPr>
            <p:ph type="sldNum" sz="quarter" idx="12"/>
          </p:nvPr>
        </p:nvSpPr>
        <p:spPr/>
        <p:txBody>
          <a:bodyPr/>
          <a:lstStyle/>
          <a:p>
            <a:fld id="{09B341A6-C61A-4A60-A38C-2498703C4B8A}" type="slidenum">
              <a:rPr lang="en-IN" smtClean="0"/>
              <a:t>6</a:t>
            </a:fld>
            <a:endParaRPr lang="en-IN"/>
          </a:p>
        </p:txBody>
      </p:sp>
      <p:sp>
        <p:nvSpPr>
          <p:cNvPr id="6" name="Date Placeholder 5">
            <a:extLst>
              <a:ext uri="{FF2B5EF4-FFF2-40B4-BE49-F238E27FC236}">
                <a16:creationId xmlns:a16="http://schemas.microsoft.com/office/drawing/2014/main" id="{D2ED8AA7-116C-9268-D479-A6F7B396DF7D}"/>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TextBox 6"/>
          <p:cNvSpPr txBox="1"/>
          <p:nvPr/>
        </p:nvSpPr>
        <p:spPr>
          <a:xfrm>
            <a:off x="1417320" y="1792224"/>
            <a:ext cx="4251960"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400" b="1" i="0">
                <a:solidFill>
                  <a:srgbClr val="BD582C"/>
                </a:solidFill>
                <a:latin typeface="Times New Roman"/>
              </a:rPr>
              <a:t>INITIAL STATE  •  t = 0 s</a:t>
            </a:r>
          </a:p>
        </p:txBody>
      </p:sp>
      <p:sp>
        <p:nvSpPr>
          <p:cNvPr id="8" name="TextBox 7"/>
          <p:cNvSpPr txBox="1"/>
          <p:nvPr/>
        </p:nvSpPr>
        <p:spPr>
          <a:xfrm>
            <a:off x="6537960" y="1792224"/>
            <a:ext cx="4251960" cy="256032"/>
          </a:xfrm>
          <a:prstGeom prst="rect">
            <a:avLst/>
          </a:prstGeom>
          <a:noFill/>
        </p:spPr>
        <p:txBody>
          <a:bodyPr wrap="square" lIns="0" tIns="0" rIns="0" bIns="0" anchor="ctr">
            <a:spAutoFit/>
          </a:bodyPr>
          <a:lstStyle/>
          <a:p>
            <a:pPr algn="ctr">
              <a:lnSpc>
                <a:spcPct val="105000"/>
              </a:lnSpc>
              <a:spcBef>
                <a:spcPts val="0"/>
              </a:spcBef>
              <a:spcAft>
                <a:spcPts val="500"/>
              </a:spcAft>
            </a:pPr>
            <a:r>
              <a:rPr sz="1400" b="1" i="0">
                <a:solidFill>
                  <a:srgbClr val="BD582C"/>
                </a:solidFill>
                <a:latin typeface="Times New Roman"/>
              </a:rPr>
              <a:t>RECORDED VIEW  •  t = 100 s</a:t>
            </a:r>
          </a:p>
        </p:txBody>
      </p:sp>
      <p:pic>
        <p:nvPicPr>
          <p:cNvPr id="9" name="Picture 8" descr="case5_t0_slide_crop.png"/>
          <p:cNvPicPr>
            <a:picLocks noChangeAspect="1"/>
          </p:cNvPicPr>
          <p:nvPr/>
        </p:nvPicPr>
        <p:blipFill>
          <a:blip r:embed="rId3"/>
          <a:stretch>
            <a:fillRect/>
          </a:stretch>
        </p:blipFill>
        <p:spPr>
          <a:xfrm>
            <a:off x="1417320" y="2066543"/>
            <a:ext cx="4251960" cy="2414016"/>
          </a:xfrm>
          <a:prstGeom prst="rect">
            <a:avLst/>
          </a:prstGeom>
        </p:spPr>
      </p:pic>
      <p:pic>
        <p:nvPicPr>
          <p:cNvPr id="10" name="Picture 9" descr="case5_t100_slide_crop.png"/>
          <p:cNvPicPr>
            <a:picLocks noChangeAspect="1"/>
          </p:cNvPicPr>
          <p:nvPr/>
        </p:nvPicPr>
        <p:blipFill>
          <a:blip r:embed="rId4"/>
          <a:stretch>
            <a:fillRect/>
          </a:stretch>
        </p:blipFill>
        <p:spPr>
          <a:xfrm>
            <a:off x="6537960" y="2066543"/>
            <a:ext cx="4251960" cy="2172705"/>
          </a:xfrm>
          <a:prstGeom prst="rect">
            <a:avLst/>
          </a:prstGeom>
        </p:spPr>
      </p:pic>
      <p:sp>
        <p:nvSpPr>
          <p:cNvPr id="11" name="TextBox 10"/>
          <p:cNvSpPr txBox="1"/>
          <p:nvPr/>
        </p:nvSpPr>
        <p:spPr>
          <a:xfrm>
            <a:off x="1417320" y="4517136"/>
            <a:ext cx="4251960" cy="274320"/>
          </a:xfrm>
          <a:prstGeom prst="rect">
            <a:avLst/>
          </a:prstGeom>
          <a:noFill/>
        </p:spPr>
        <p:txBody>
          <a:bodyPr wrap="square" lIns="0" tIns="0" rIns="0" bIns="0" anchor="ctr">
            <a:spAutoFit/>
          </a:bodyPr>
          <a:lstStyle/>
          <a:p>
            <a:pPr algn="ctr">
              <a:lnSpc>
                <a:spcPct val="105000"/>
              </a:lnSpc>
              <a:spcBef>
                <a:spcPts val="0"/>
              </a:spcBef>
              <a:spcAft>
                <a:spcPts val="500"/>
              </a:spcAft>
            </a:pPr>
            <a:r>
              <a:rPr sz="1140" b="0" i="0">
                <a:solidFill>
                  <a:srgbClr val="5F5F5F"/>
                </a:solidFill>
                <a:latin typeface="Times New Roman"/>
              </a:rPr>
              <a:t>Case 5 • Pure Pursuit • Initial robot and obstacle positions</a:t>
            </a:r>
          </a:p>
        </p:txBody>
      </p:sp>
      <p:sp>
        <p:nvSpPr>
          <p:cNvPr id="12" name="TextBox 11"/>
          <p:cNvSpPr txBox="1"/>
          <p:nvPr/>
        </p:nvSpPr>
        <p:spPr>
          <a:xfrm>
            <a:off x="6537960" y="4517136"/>
            <a:ext cx="4251960" cy="274320"/>
          </a:xfrm>
          <a:prstGeom prst="rect">
            <a:avLst/>
          </a:prstGeom>
          <a:noFill/>
        </p:spPr>
        <p:txBody>
          <a:bodyPr wrap="square" lIns="0" tIns="0" rIns="0" bIns="0" anchor="ctr">
            <a:spAutoFit/>
          </a:bodyPr>
          <a:lstStyle/>
          <a:p>
            <a:pPr algn="ctr">
              <a:lnSpc>
                <a:spcPct val="105000"/>
              </a:lnSpc>
              <a:spcBef>
                <a:spcPts val="0"/>
              </a:spcBef>
              <a:spcAft>
                <a:spcPts val="500"/>
              </a:spcAft>
            </a:pPr>
            <a:r>
              <a:rPr sz="1140" b="0" i="0">
                <a:solidFill>
                  <a:srgbClr val="5F5F5F"/>
                </a:solidFill>
                <a:latin typeface="Times New Roman"/>
              </a:rPr>
              <a:t>Case 5 • Pure Pursuit • Later recorded positions</a:t>
            </a:r>
          </a:p>
        </p:txBody>
      </p:sp>
      <p:sp>
        <p:nvSpPr>
          <p:cNvPr id="13" name="Rounded Rectangle 12"/>
          <p:cNvSpPr/>
          <p:nvPr/>
        </p:nvSpPr>
        <p:spPr>
          <a:xfrm>
            <a:off x="1143000" y="4956048"/>
            <a:ext cx="2267712" cy="80467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280" b="1">
                <a:solidFill>
                  <a:srgbClr val="BD582C"/>
                </a:solidFill>
                <a:latin typeface="Times New Roman"/>
              </a:rPr>
              <a:t>TRACKING</a:t>
            </a:r>
          </a:p>
          <a:p>
            <a:pPr algn="ctr">
              <a:lnSpc>
                <a:spcPct val="100000"/>
              </a:lnSpc>
              <a:spcBef>
                <a:spcPts val="200"/>
              </a:spcBef>
              <a:spcAft>
                <a:spcPts val="0"/>
              </a:spcAft>
            </a:pPr>
            <a:r>
              <a:rPr sz="1110">
                <a:solidFill>
                  <a:srgbClr val="3A3A3A"/>
                </a:solidFill>
                <a:latin typeface="Times New Roman"/>
              </a:rPr>
              <a:t>Cross-track RMSE and maximum error</a:t>
            </a:r>
          </a:p>
        </p:txBody>
      </p:sp>
      <p:sp>
        <p:nvSpPr>
          <p:cNvPr id="14" name="Rounded Rectangle 13"/>
          <p:cNvSpPr/>
          <p:nvPr/>
        </p:nvSpPr>
        <p:spPr>
          <a:xfrm>
            <a:off x="3630168" y="4956048"/>
            <a:ext cx="2267712" cy="80467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280" b="1">
                <a:solidFill>
                  <a:srgbClr val="BD582C"/>
                </a:solidFill>
                <a:latin typeface="Times New Roman"/>
              </a:rPr>
              <a:t>CLEARANCE</a:t>
            </a:r>
          </a:p>
          <a:p>
            <a:pPr algn="ctr">
              <a:lnSpc>
                <a:spcPct val="100000"/>
              </a:lnSpc>
              <a:spcBef>
                <a:spcPts val="200"/>
              </a:spcBef>
              <a:spcAft>
                <a:spcPts val="0"/>
              </a:spcAft>
            </a:pPr>
            <a:r>
              <a:rPr sz="1110">
                <a:solidFill>
                  <a:srgbClr val="3A3A3A"/>
                </a:solidFill>
                <a:latin typeface="Times New Roman"/>
              </a:rPr>
              <a:t>Minimum surface gap to obstacle</a:t>
            </a:r>
          </a:p>
        </p:txBody>
      </p:sp>
      <p:sp>
        <p:nvSpPr>
          <p:cNvPr id="15" name="Rounded Rectangle 14"/>
          <p:cNvSpPr/>
          <p:nvPr/>
        </p:nvSpPr>
        <p:spPr>
          <a:xfrm>
            <a:off x="6117336" y="4956048"/>
            <a:ext cx="2267712" cy="80467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280" b="1">
                <a:solidFill>
                  <a:srgbClr val="BD582C"/>
                </a:solidFill>
                <a:latin typeface="Times New Roman"/>
              </a:rPr>
              <a:t>SAFETY</a:t>
            </a:r>
          </a:p>
          <a:p>
            <a:pPr algn="ctr">
              <a:lnSpc>
                <a:spcPct val="100000"/>
              </a:lnSpc>
              <a:spcBef>
                <a:spcPts val="200"/>
              </a:spcBef>
              <a:spcAft>
                <a:spcPts val="0"/>
              </a:spcAft>
            </a:pPr>
            <a:r>
              <a:rPr sz="1110">
                <a:solidFill>
                  <a:srgbClr val="3A3A3A"/>
                </a:solidFill>
                <a:latin typeface="Times New Roman"/>
              </a:rPr>
              <a:t>Collision-detected status flag</a:t>
            </a:r>
          </a:p>
        </p:txBody>
      </p:sp>
      <p:sp>
        <p:nvSpPr>
          <p:cNvPr id="16" name="Rounded Rectangle 15"/>
          <p:cNvSpPr/>
          <p:nvPr/>
        </p:nvSpPr>
        <p:spPr>
          <a:xfrm>
            <a:off x="8604504" y="4956048"/>
            <a:ext cx="2267712" cy="804672"/>
          </a:xfrm>
          <a:prstGeom prst="roundRect">
            <a:avLst/>
          </a:prstGeom>
          <a:solidFill>
            <a:srgbClr val="FFF6EF"/>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ctr">
              <a:lnSpc>
                <a:spcPct val="100000"/>
              </a:lnSpc>
              <a:spcAft>
                <a:spcPts val="300"/>
              </a:spcAft>
            </a:pPr>
            <a:r>
              <a:rPr sz="1280" b="1">
                <a:solidFill>
                  <a:srgbClr val="BD582C"/>
                </a:solidFill>
                <a:latin typeface="Times New Roman"/>
              </a:rPr>
              <a:t>COMPLETION</a:t>
            </a:r>
          </a:p>
          <a:p>
            <a:pPr algn="ctr">
              <a:lnSpc>
                <a:spcPct val="100000"/>
              </a:lnSpc>
              <a:spcBef>
                <a:spcPts val="200"/>
              </a:spcBef>
              <a:spcAft>
                <a:spcPts val="0"/>
              </a:spcAft>
            </a:pPr>
            <a:r>
              <a:rPr sz="1110">
                <a:solidFill>
                  <a:srgbClr val="3A3A3A"/>
                </a:solidFill>
                <a:latin typeface="Times New Roman"/>
              </a:rPr>
              <a:t>Goal reached and completion time</a:t>
            </a:r>
          </a:p>
        </p:txBody>
      </p:sp>
      <p:sp>
        <p:nvSpPr>
          <p:cNvPr id="17" name="TextBox 16"/>
          <p:cNvSpPr txBox="1"/>
          <p:nvPr/>
        </p:nvSpPr>
        <p:spPr>
          <a:xfrm>
            <a:off x="1143000" y="5852160"/>
            <a:ext cx="9921240" cy="228600"/>
          </a:xfrm>
          <a:prstGeom prst="rect">
            <a:avLst/>
          </a:prstGeom>
          <a:noFill/>
        </p:spPr>
        <p:txBody>
          <a:bodyPr wrap="square" lIns="0" tIns="0" rIns="0" bIns="0" anchor="ctr">
            <a:spAutoFit/>
          </a:bodyPr>
          <a:lstStyle/>
          <a:p>
            <a:pPr algn="ctr">
              <a:lnSpc>
                <a:spcPct val="105000"/>
              </a:lnSpc>
              <a:spcBef>
                <a:spcPts val="0"/>
              </a:spcBef>
              <a:spcAft>
                <a:spcPts val="500"/>
              </a:spcAft>
            </a:pPr>
            <a:r>
              <a:rPr sz="1140" b="0" i="1">
                <a:solidFill>
                  <a:srgbClr val="5F5F5F"/>
                </a:solidFill>
                <a:latin typeface="Times New Roman"/>
              </a:rPr>
              <a:t>Interpret the trajectory together with tracking, clearance, collision and goal-status data.</a:t>
            </a:r>
          </a:p>
        </p:txBody>
      </p:sp>
    </p:spTree>
    <p:extLst>
      <p:ext uri="{BB962C8B-B14F-4D97-AF65-F5344CB8AC3E}">
        <p14:creationId xmlns:p14="http://schemas.microsoft.com/office/powerpoint/2010/main" val="2456278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600" b="0" i="0">
                <a:solidFill>
                  <a:srgbClr val="3A3A3A"/>
                </a:solidFill>
                <a:latin typeface="Times New Roman"/>
              </a:rPr>
              <a:t>Conclusion</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Introduction to AI Robotics (22AIE214)</a:t>
            </a:r>
            <a:endParaRPr lang="en-IN" dirty="0"/>
          </a:p>
        </p:txBody>
      </p:sp>
      <p:sp>
        <p:nvSpPr>
          <p:cNvPr id="5" name="Slide Number Placeholder 4"/>
          <p:cNvSpPr>
            <a:spLocks noGrp="1"/>
          </p:cNvSpPr>
          <p:nvPr>
            <p:ph type="sldNum" sz="quarter" idx="12"/>
          </p:nvPr>
        </p:nvSpPr>
        <p:spPr/>
        <p:txBody>
          <a:bodyPr/>
          <a:lstStyle/>
          <a:p>
            <a:fld id="{09B341A6-C61A-4A60-A38C-2498703C4B8A}" type="slidenum">
              <a:rPr lang="en-IN" smtClean="0"/>
              <a:t>7</a:t>
            </a:fld>
            <a:endParaRPr lang="en-IN"/>
          </a:p>
        </p:txBody>
      </p:sp>
      <p:sp>
        <p:nvSpPr>
          <p:cNvPr id="6" name="Date Placeholder 5">
            <a:extLst>
              <a:ext uri="{FF2B5EF4-FFF2-40B4-BE49-F238E27FC236}">
                <a16:creationId xmlns:a16="http://schemas.microsoft.com/office/drawing/2014/main" id="{4A54E57B-6B1E-9637-8E17-38625F86D3B2}"/>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Rounded Rectangle 6"/>
          <p:cNvSpPr/>
          <p:nvPr/>
        </p:nvSpPr>
        <p:spPr>
          <a:xfrm>
            <a:off x="1143000" y="1965960"/>
            <a:ext cx="4663440" cy="3611880"/>
          </a:xfrm>
          <a:prstGeom prst="roundRect">
            <a:avLst/>
          </a:prstGeom>
          <a:solidFill>
            <a:srgbClr val="FFF6EF"/>
          </a:solidFill>
          <a:ln w="14604">
            <a:solidFill>
              <a:srgbClr val="BD582C"/>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800" b="1">
                <a:solidFill>
                  <a:srgbClr val="BD582C"/>
                </a:solidFill>
                <a:latin typeface="Times New Roman"/>
              </a:rPr>
              <a:t>CONCLUSION</a:t>
            </a:r>
          </a:p>
          <a:p>
            <a:pPr algn="l">
              <a:lnSpc>
                <a:spcPct val="100000"/>
              </a:lnSpc>
              <a:spcBef>
                <a:spcPts val="200"/>
              </a:spcBef>
              <a:spcAft>
                <a:spcPts val="0"/>
              </a:spcAft>
            </a:pPr>
            <a:r>
              <a:rPr sz="1500">
                <a:solidFill>
                  <a:srgbClr val="3A3A3A"/>
                </a:solidFill>
                <a:latin typeface="Times New Roman"/>
              </a:rPr>
              <a:t>Good navigation is a balance between following the intended route and maintaining separation from obstacles.
• Pure Pursuit and Stanley correct path deviation in different ways.
• The safety supervisor checks predicted motion before a command is applied.
• Tracking error, obstacle clearance, collision status and goal completion must be considered together.</a:t>
            </a:r>
          </a:p>
        </p:txBody>
      </p:sp>
      <p:sp>
        <p:nvSpPr>
          <p:cNvPr id="8" name="Rounded Rectangle 7"/>
          <p:cNvSpPr/>
          <p:nvPr/>
        </p:nvSpPr>
        <p:spPr>
          <a:xfrm>
            <a:off x="6144768" y="1965960"/>
            <a:ext cx="4800600" cy="3611880"/>
          </a:xfrm>
          <a:prstGeom prst="roundRect">
            <a:avLst/>
          </a:prstGeom>
          <a:solidFill>
            <a:srgbClr val="FAE1D3"/>
          </a:solidFill>
          <a:ln w="14604">
            <a:solidFill>
              <a:srgbClr val="EB7D1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64008" rtlCol="0" anchor="ctr"/>
          <a:lstStyle/>
          <a:p>
            <a:pPr algn="l">
              <a:lnSpc>
                <a:spcPct val="100000"/>
              </a:lnSpc>
              <a:spcAft>
                <a:spcPts val="300"/>
              </a:spcAft>
            </a:pPr>
            <a:r>
              <a:rPr sz="1800" b="1">
                <a:solidFill>
                  <a:srgbClr val="BD582C"/>
                </a:solidFill>
                <a:latin typeface="Times New Roman"/>
              </a:rPr>
              <a:t>FUTURE IMPROVEMENTS</a:t>
            </a:r>
          </a:p>
          <a:p>
            <a:pPr algn="l">
              <a:lnSpc>
                <a:spcPct val="100000"/>
              </a:lnSpc>
              <a:spcBef>
                <a:spcPts val="200"/>
              </a:spcBef>
              <a:spcAft>
                <a:spcPts val="0"/>
              </a:spcAft>
            </a:pPr>
            <a:r>
              <a:rPr sz="1500">
                <a:solidFill>
                  <a:srgbClr val="3A3A3A"/>
                </a:solidFill>
                <a:latin typeface="Times New Roman"/>
              </a:rPr>
              <a:t>• Improve the prediction of moving-obstacle trajectories.
• Tune look-ahead distance, controller gain and safety thresholds.
• Test more starting positions and obstacle paths.
• Validate the approach on a physical mobile robot.</a:t>
            </a:r>
          </a:p>
        </p:txBody>
      </p:sp>
      <p:sp>
        <p:nvSpPr>
          <p:cNvPr id="9" name="TextBox 8"/>
          <p:cNvSpPr txBox="1"/>
          <p:nvPr/>
        </p:nvSpPr>
        <p:spPr>
          <a:xfrm>
            <a:off x="1188720" y="5797296"/>
            <a:ext cx="9784080" cy="320040"/>
          </a:xfrm>
          <a:prstGeom prst="rect">
            <a:avLst/>
          </a:prstGeom>
          <a:noFill/>
        </p:spPr>
        <p:txBody>
          <a:bodyPr wrap="square" lIns="0" tIns="0" rIns="0" bIns="0" anchor="ctr">
            <a:spAutoFit/>
          </a:bodyPr>
          <a:lstStyle/>
          <a:p>
            <a:pPr algn="ctr">
              <a:lnSpc>
                <a:spcPct val="105000"/>
              </a:lnSpc>
              <a:spcBef>
                <a:spcPts val="0"/>
              </a:spcBef>
              <a:spcAft>
                <a:spcPts val="500"/>
              </a:spcAft>
            </a:pPr>
            <a:r>
              <a:rPr sz="1400" b="0" i="1">
                <a:solidFill>
                  <a:srgbClr val="5F5F5F"/>
                </a:solidFill>
                <a:latin typeface="Times New Roman"/>
              </a:rPr>
              <a:t>The comparison should be based on recorded metrics; no controller is assumed to be the best in every scenario.</a:t>
            </a:r>
          </a:p>
        </p:txBody>
      </p:sp>
    </p:spTree>
    <p:extLst>
      <p:ext uri="{BB962C8B-B14F-4D97-AF65-F5344CB8AC3E}">
        <p14:creationId xmlns:p14="http://schemas.microsoft.com/office/powerpoint/2010/main" val="2042935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E6B47-5579-575E-C9B6-C206D582C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48745-0113-7DCC-F8A9-FCD6B7F9828F}"/>
              </a:ext>
            </a:extLst>
          </p:cNvPr>
          <p:cNvSpPr>
            <a:spLocks noGrp="1"/>
          </p:cNvSpPr>
          <p:nvPr>
            <p:ph type="title"/>
          </p:nvPr>
        </p:nvSpPr>
        <p:spPr/>
        <p:txBody>
          <a:bodyPr wrap="square" lIns="0" tIns="0" rIns="0" bIns="0" anchor="ctr">
            <a:normAutofit/>
          </a:bodyPr>
          <a:lstStyle/>
          <a:p>
            <a:pPr algn="l">
              <a:lnSpc>
                <a:spcPct val="100000"/>
              </a:lnSpc>
              <a:spcBef>
                <a:spcPts val="0"/>
              </a:spcBef>
              <a:spcAft>
                <a:spcPts val="500"/>
              </a:spcAft>
            </a:pPr>
            <a:r>
              <a:rPr sz="3600" b="0" i="0">
                <a:solidFill>
                  <a:srgbClr val="3A3A3A"/>
                </a:solidFill>
                <a:latin typeface="Times New Roman"/>
              </a:rPr>
              <a:t>References</a:t>
            </a:r>
            <a:endParaRPr lang="en-IN" sz="32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71608F0-024A-C0BE-0C51-30005F90FFC3}"/>
              </a:ext>
            </a:extLst>
          </p:cNvPr>
          <p:cNvSpPr>
            <a:spLocks noGrp="1"/>
          </p:cNvSpPr>
          <p:nvPr>
            <p:ph type="ftr" sz="quarter" idx="11"/>
          </p:nvPr>
        </p:nvSpPr>
        <p:spPr/>
        <p:txBody>
          <a:bodyPr/>
          <a:lstStyle/>
          <a:p>
            <a:r>
              <a:rPr lang="en-US"/>
              <a:t>Introduction to AI Robotics (22AIE214)</a:t>
            </a:r>
            <a:endParaRPr lang="en-IN" dirty="0"/>
          </a:p>
        </p:txBody>
      </p:sp>
      <p:sp>
        <p:nvSpPr>
          <p:cNvPr id="5" name="Slide Number Placeholder 4">
            <a:extLst>
              <a:ext uri="{FF2B5EF4-FFF2-40B4-BE49-F238E27FC236}">
                <a16:creationId xmlns:a16="http://schemas.microsoft.com/office/drawing/2014/main" id="{6F2A6AEC-C642-0C1A-6636-2EC1FF636723}"/>
              </a:ext>
            </a:extLst>
          </p:cNvPr>
          <p:cNvSpPr>
            <a:spLocks noGrp="1"/>
          </p:cNvSpPr>
          <p:nvPr>
            <p:ph type="sldNum" sz="quarter" idx="12"/>
          </p:nvPr>
        </p:nvSpPr>
        <p:spPr/>
        <p:txBody>
          <a:bodyPr/>
          <a:lstStyle/>
          <a:p>
            <a:fld id="{09B341A6-C61A-4A60-A38C-2498703C4B8A}" type="slidenum">
              <a:rPr lang="en-IN" smtClean="0"/>
              <a:t>8</a:t>
            </a:fld>
            <a:endParaRPr lang="en-IN"/>
          </a:p>
        </p:txBody>
      </p:sp>
      <p:sp>
        <p:nvSpPr>
          <p:cNvPr id="6" name="Date Placeholder 5">
            <a:extLst>
              <a:ext uri="{FF2B5EF4-FFF2-40B4-BE49-F238E27FC236}">
                <a16:creationId xmlns:a16="http://schemas.microsoft.com/office/drawing/2014/main" id="{B62E6D2A-67FE-4E6F-1ACB-3D3C46A653E5}"/>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Rounded Rectangle 6"/>
          <p:cNvSpPr/>
          <p:nvPr/>
        </p:nvSpPr>
        <p:spPr>
          <a:xfrm>
            <a:off x="1143000" y="1874519"/>
            <a:ext cx="9921240" cy="749808"/>
          </a:xfrm>
          <a:prstGeom prst="roundRect">
            <a:avLst/>
          </a:prstGeom>
          <a:solidFill>
            <a:srgbClr val="FFF6EF"/>
          </a:solidFill>
          <a:ln w="11430">
            <a:solidFill>
              <a:srgbClr val="E1B49A"/>
            </a:solidFill>
          </a:ln>
        </p:spPr>
        <p:style>
          <a:lnRef idx="1">
            <a:schemeClr val="accent1"/>
          </a:lnRef>
          <a:fillRef idx="3">
            <a:schemeClr val="accent1"/>
          </a:fillRef>
          <a:effectRef idx="2">
            <a:schemeClr val="accent1"/>
          </a:effectRef>
          <a:fontRef idx="minor">
            <a:schemeClr val="lt1"/>
          </a:fontRef>
        </p:style>
        <p:txBody>
          <a:bodyPr wrap="square" lIns="128016" rIns="128016" bIns="36576" rtlCol="0" anchor="ctr"/>
          <a:lstStyle/>
          <a:p>
            <a:pPr algn="ctr">
              <a:spcAft>
                <a:spcPts val="200"/>
              </a:spcAft>
            </a:pPr>
            <a:r>
              <a:rPr sz="1340" b="1">
                <a:solidFill>
                  <a:srgbClr val="BD582C"/>
                </a:solidFill>
                <a:latin typeface="Times New Roman"/>
              </a:rPr>
              <a:t>[1]  Coulter, R. C. (1992).</a:t>
            </a:r>
          </a:p>
          <a:p>
            <a:pPr>
              <a:lnSpc>
                <a:spcPct val="98000"/>
              </a:lnSpc>
              <a:spcAft>
                <a:spcPts val="0"/>
              </a:spcAft>
            </a:pPr>
            <a:r>
              <a:rPr sz="1160">
                <a:solidFill>
                  <a:srgbClr val="3A3A3A"/>
                </a:solidFill>
                <a:latin typeface="Times New Roman"/>
              </a:rPr>
              <a:t>Implementation of the Pure Pursuit Path Tracking Algorithm. Robotics Institute, Carnegie Mellon University, Technical Report CMU-RI-TR-92-01.</a:t>
            </a:r>
          </a:p>
        </p:txBody>
      </p:sp>
      <p:sp>
        <p:nvSpPr>
          <p:cNvPr id="8" name="Rounded Rectangle 7"/>
          <p:cNvSpPr/>
          <p:nvPr/>
        </p:nvSpPr>
        <p:spPr>
          <a:xfrm>
            <a:off x="1143000" y="2834640"/>
            <a:ext cx="9921240" cy="713232"/>
          </a:xfrm>
          <a:prstGeom prst="roundRect">
            <a:avLst/>
          </a:prstGeom>
          <a:solidFill>
            <a:srgbClr val="FFF6EF"/>
          </a:solidFill>
          <a:ln w="11430">
            <a:solidFill>
              <a:srgbClr val="E1B49A"/>
            </a:solidFill>
          </a:ln>
        </p:spPr>
        <p:style>
          <a:lnRef idx="1">
            <a:schemeClr val="accent1"/>
          </a:lnRef>
          <a:fillRef idx="3">
            <a:schemeClr val="accent1"/>
          </a:fillRef>
          <a:effectRef idx="2">
            <a:schemeClr val="accent1"/>
          </a:effectRef>
          <a:fontRef idx="minor">
            <a:schemeClr val="lt1"/>
          </a:fontRef>
        </p:style>
        <p:txBody>
          <a:bodyPr wrap="square" lIns="128016" rIns="128016" bIns="36576" rtlCol="0" anchor="ctr"/>
          <a:lstStyle/>
          <a:p>
            <a:pPr algn="ctr">
              <a:spcAft>
                <a:spcPts val="200"/>
              </a:spcAft>
            </a:pPr>
            <a:r>
              <a:rPr sz="1340" b="1">
                <a:solidFill>
                  <a:srgbClr val="BD582C"/>
                </a:solidFill>
                <a:latin typeface="Times New Roman"/>
              </a:rPr>
              <a:t>[2]  Thrun, S., et al. (2006).</a:t>
            </a:r>
          </a:p>
          <a:p>
            <a:pPr>
              <a:lnSpc>
                <a:spcPct val="98000"/>
              </a:lnSpc>
              <a:spcAft>
                <a:spcPts val="0"/>
              </a:spcAft>
            </a:pPr>
            <a:r>
              <a:rPr sz="1160">
                <a:solidFill>
                  <a:srgbClr val="3A3A3A"/>
                </a:solidFill>
                <a:latin typeface="Times New Roman"/>
              </a:rPr>
              <a:t>Stanley: The Robot That Won the DARPA Grand Challenge. Journal of Field Robotics, 23(9), 661–692.</a:t>
            </a:r>
          </a:p>
        </p:txBody>
      </p:sp>
      <p:sp>
        <p:nvSpPr>
          <p:cNvPr id="9" name="Rounded Rectangle 8"/>
          <p:cNvSpPr/>
          <p:nvPr/>
        </p:nvSpPr>
        <p:spPr>
          <a:xfrm>
            <a:off x="1143000" y="3730752"/>
            <a:ext cx="9921240" cy="859536"/>
          </a:xfrm>
          <a:prstGeom prst="roundRect">
            <a:avLst/>
          </a:prstGeom>
          <a:solidFill>
            <a:srgbClr val="FFF6EF"/>
          </a:solidFill>
          <a:ln w="11430">
            <a:solidFill>
              <a:srgbClr val="E1B49A"/>
            </a:solidFill>
          </a:ln>
        </p:spPr>
        <p:style>
          <a:lnRef idx="1">
            <a:schemeClr val="accent1"/>
          </a:lnRef>
          <a:fillRef idx="3">
            <a:schemeClr val="accent1"/>
          </a:fillRef>
          <a:effectRef idx="2">
            <a:schemeClr val="accent1"/>
          </a:effectRef>
          <a:fontRef idx="minor">
            <a:schemeClr val="lt1"/>
          </a:fontRef>
        </p:style>
        <p:txBody>
          <a:bodyPr wrap="square" lIns="128016" rIns="128016" bIns="36576" rtlCol="0" anchor="ctr"/>
          <a:lstStyle/>
          <a:p>
            <a:pPr algn="ctr">
              <a:spcAft>
                <a:spcPts val="200"/>
              </a:spcAft>
            </a:pPr>
            <a:r>
              <a:rPr sz="1340" b="1">
                <a:solidFill>
                  <a:srgbClr val="BD582C"/>
                </a:solidFill>
                <a:latin typeface="Times New Roman"/>
              </a:rPr>
              <a:t>[3]  Hoffmann, G. M., Tomlin, C. J., Montemerlo, M., &amp; Thrun, S. (2007).</a:t>
            </a:r>
          </a:p>
          <a:p>
            <a:pPr>
              <a:lnSpc>
                <a:spcPct val="98000"/>
              </a:lnSpc>
              <a:spcAft>
                <a:spcPts val="0"/>
              </a:spcAft>
            </a:pPr>
            <a:r>
              <a:rPr sz="1160">
                <a:solidFill>
                  <a:srgbClr val="3A3A3A"/>
                </a:solidFill>
                <a:latin typeface="Times New Roman"/>
              </a:rPr>
              <a:t>Autonomous Automobile Trajectory Tracking for Off-Road Driving: Controller Design, Experimental Validation and Racing. Proceedings of the 2007 American Control Conference, 2296–2301.</a:t>
            </a:r>
          </a:p>
        </p:txBody>
      </p:sp>
      <p:sp>
        <p:nvSpPr>
          <p:cNvPr id="10" name="Rounded Rectangle 9"/>
          <p:cNvSpPr/>
          <p:nvPr/>
        </p:nvSpPr>
        <p:spPr>
          <a:xfrm>
            <a:off x="1143000" y="4718304"/>
            <a:ext cx="9921240" cy="713232"/>
          </a:xfrm>
          <a:prstGeom prst="roundRect">
            <a:avLst/>
          </a:prstGeom>
          <a:solidFill>
            <a:srgbClr val="FFF6EF"/>
          </a:solidFill>
          <a:ln w="11430">
            <a:solidFill>
              <a:srgbClr val="E1B49A"/>
            </a:solidFill>
          </a:ln>
        </p:spPr>
        <p:style>
          <a:lnRef idx="1">
            <a:schemeClr val="accent1"/>
          </a:lnRef>
          <a:fillRef idx="3">
            <a:schemeClr val="accent1"/>
          </a:fillRef>
          <a:effectRef idx="2">
            <a:schemeClr val="accent1"/>
          </a:effectRef>
          <a:fontRef idx="minor">
            <a:schemeClr val="lt1"/>
          </a:fontRef>
        </p:style>
        <p:txBody>
          <a:bodyPr wrap="square" lIns="128016" rIns="128016" bIns="36576" rtlCol="0" anchor="ctr"/>
          <a:lstStyle/>
          <a:p>
            <a:pPr algn="ctr">
              <a:spcAft>
                <a:spcPts val="200"/>
              </a:spcAft>
            </a:pPr>
            <a:r>
              <a:rPr sz="1340" b="1">
                <a:solidFill>
                  <a:srgbClr val="BD582C"/>
                </a:solidFill>
                <a:latin typeface="Times New Roman"/>
              </a:rPr>
              <a:t>[4]  Fox, D., Burgard, W., &amp; Thrun, S. (1997).</a:t>
            </a:r>
          </a:p>
          <a:p>
            <a:pPr>
              <a:lnSpc>
                <a:spcPct val="98000"/>
              </a:lnSpc>
              <a:spcAft>
                <a:spcPts val="0"/>
              </a:spcAft>
            </a:pPr>
            <a:r>
              <a:rPr sz="1160">
                <a:solidFill>
                  <a:srgbClr val="3A3A3A"/>
                </a:solidFill>
                <a:latin typeface="Times New Roman"/>
              </a:rPr>
              <a:t>The Dynamic Window Approach to Collision Avoidance. IEEE Robotics &amp; Automation Magazine, 4(1), 23–33.</a:t>
            </a:r>
          </a:p>
        </p:txBody>
      </p:sp>
      <p:sp>
        <p:nvSpPr>
          <p:cNvPr id="11" name="TextBox 10"/>
          <p:cNvSpPr txBox="1"/>
          <p:nvPr/>
        </p:nvSpPr>
        <p:spPr>
          <a:xfrm>
            <a:off x="1170432" y="5806440"/>
            <a:ext cx="9829800" cy="301752"/>
          </a:xfrm>
          <a:prstGeom prst="rect">
            <a:avLst/>
          </a:prstGeom>
          <a:noFill/>
        </p:spPr>
        <p:txBody>
          <a:bodyPr wrap="square" lIns="0" tIns="0" rIns="0" bIns="0" anchor="ctr">
            <a:spAutoFit/>
          </a:bodyPr>
          <a:lstStyle/>
          <a:p>
            <a:pPr algn="ctr">
              <a:lnSpc>
                <a:spcPct val="105000"/>
              </a:lnSpc>
              <a:spcBef>
                <a:spcPts val="0"/>
              </a:spcBef>
              <a:spcAft>
                <a:spcPts val="500"/>
              </a:spcAft>
            </a:pPr>
            <a:r>
              <a:rPr sz="1230" b="0" i="1">
                <a:solidFill>
                  <a:srgbClr val="5F5F5F"/>
                </a:solidFill>
                <a:latin typeface="Times New Roman"/>
              </a:rPr>
              <a:t>References provide the background for the path-tracking and obstacle-avoidance methods used in this project.</a:t>
            </a:r>
          </a:p>
        </p:txBody>
      </p:sp>
    </p:spTree>
    <p:extLst>
      <p:ext uri="{BB962C8B-B14F-4D97-AF65-F5344CB8AC3E}">
        <p14:creationId xmlns:p14="http://schemas.microsoft.com/office/powerpoint/2010/main" val="4035623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black">
                    <a:tint val="75000"/>
                  </a:prstClr>
                </a:solidFill>
              </a:rPr>
              <a:t>Introduction to AI Robotics (22AIE214)</a:t>
            </a:r>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09B341A6-C61A-4A60-A38C-2498703C4B8A}" type="slidenum">
              <a:rPr lang="en-IN" smtClean="0">
                <a:solidFill>
                  <a:prstClr val="black">
                    <a:tint val="75000"/>
                  </a:prstClr>
                </a:solidFill>
              </a:rPr>
              <a:pPr/>
              <a:t>9</a:t>
            </a:fld>
            <a:endParaRPr lang="en-IN">
              <a:solidFill>
                <a:prstClr val="black">
                  <a:tint val="75000"/>
                </a:prstClr>
              </a:solidFill>
            </a:endParaRPr>
          </a:p>
        </p:txBody>
      </p:sp>
      <p:sp>
        <p:nvSpPr>
          <p:cNvPr id="6" name="Date Placeholder 5">
            <a:extLst>
              <a:ext uri="{FF2B5EF4-FFF2-40B4-BE49-F238E27FC236}">
                <a16:creationId xmlns:a16="http://schemas.microsoft.com/office/drawing/2014/main" id="{09B6A1FB-1159-93CE-A218-66E4DCFBBF89}"/>
              </a:ext>
            </a:extLst>
          </p:cNvPr>
          <p:cNvSpPr>
            <a:spLocks noGrp="1"/>
          </p:cNvSpPr>
          <p:nvPr>
            <p:ph type="dt" sz="half" idx="10"/>
          </p:nvPr>
        </p:nvSpPr>
        <p:spPr/>
        <p:txBody>
          <a:bodyPr wrap="square" lIns="0" tIns="0" rIns="0" bIns="0" anchor="ctr"/>
          <a:lstStyle/>
          <a:p>
            <a:pPr algn="l">
              <a:lnSpc>
                <a:spcPct val="105000"/>
              </a:lnSpc>
              <a:spcBef>
                <a:spcPts val="0"/>
              </a:spcBef>
              <a:spcAft>
                <a:spcPts val="500"/>
              </a:spcAft>
            </a:pPr>
            <a:r>
              <a:rPr sz="900" b="0" i="0">
                <a:solidFill>
                  <a:srgbClr val="FFFFFF"/>
                </a:solidFill>
                <a:latin typeface="Times New Roman"/>
              </a:rPr>
              <a:t>14/10/2026</a:t>
            </a:r>
            <a:endParaRPr lang="en-IN"/>
          </a:p>
        </p:txBody>
      </p:sp>
      <p:sp>
        <p:nvSpPr>
          <p:cNvPr id="7" name="TextBox 6"/>
          <p:cNvSpPr txBox="1"/>
          <p:nvPr/>
        </p:nvSpPr>
        <p:spPr>
          <a:xfrm>
            <a:off x="1645920" y="2212848"/>
            <a:ext cx="8961120" cy="1051560"/>
          </a:xfrm>
          <a:prstGeom prst="rect">
            <a:avLst/>
          </a:prstGeom>
          <a:noFill/>
        </p:spPr>
        <p:txBody>
          <a:bodyPr wrap="square" lIns="0" tIns="0" rIns="0" bIns="0" anchor="ctr">
            <a:spAutoFit/>
          </a:bodyPr>
          <a:lstStyle/>
          <a:p>
            <a:pPr algn="ctr">
              <a:lnSpc>
                <a:spcPct val="105000"/>
              </a:lnSpc>
              <a:spcBef>
                <a:spcPts val="0"/>
              </a:spcBef>
              <a:spcAft>
                <a:spcPts val="800"/>
              </a:spcAft>
            </a:pPr>
            <a:r>
              <a:rPr sz="3800" b="0" i="0" dirty="0">
                <a:solidFill>
                  <a:srgbClr val="3A3A3A"/>
                </a:solidFill>
                <a:latin typeface="Times New Roman"/>
              </a:rPr>
              <a:t>Thank You</a:t>
            </a:r>
          </a:p>
          <a:p>
            <a:pPr algn="ctr">
              <a:lnSpc>
                <a:spcPct val="105000"/>
              </a:lnSpc>
              <a:spcBef>
                <a:spcPts val="0"/>
              </a:spcBef>
              <a:spcAft>
                <a:spcPts val="0"/>
              </a:spcAft>
            </a:pPr>
            <a:endParaRPr sz="2200" b="1" i="0" dirty="0">
              <a:solidFill>
                <a:srgbClr val="BD582C"/>
              </a:solidFill>
              <a:latin typeface="Times New Roman"/>
            </a:endParaRPr>
          </a:p>
        </p:txBody>
      </p:sp>
    </p:spTree>
    <p:extLst>
      <p:ext uri="{BB962C8B-B14F-4D97-AF65-F5344CB8AC3E}">
        <p14:creationId xmlns:p14="http://schemas.microsoft.com/office/powerpoint/2010/main" val="32050280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9321</TotalTime>
  <Words>1008</Words>
  <Application>Microsoft Office PowerPoint</Application>
  <PresentationFormat>Widescreen</PresentationFormat>
  <Paragraphs>141</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Calibri Light</vt:lpstr>
      <vt:lpstr>Times New Roman</vt:lpstr>
      <vt:lpstr>Retrospect</vt:lpstr>
      <vt:lpstr>Amrita Vishwa Vidyapeetham, Amaravati Campus</vt:lpstr>
      <vt:lpstr>Introduction</vt:lpstr>
      <vt:lpstr>Problem Statement, Objectives and Tools</vt:lpstr>
      <vt:lpstr>Methodology</vt:lpstr>
      <vt:lpstr>Flow-chart</vt:lpstr>
      <vt:lpstr>Simulation Result</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dc:title>
  <dc:creator>Ravishankar Desai</dc:creator>
  <cp:lastModifiedBy>srinesh jetti</cp:lastModifiedBy>
  <cp:revision>384</cp:revision>
  <dcterms:created xsi:type="dcterms:W3CDTF">2024-02-11T06:21:24Z</dcterms:created>
  <dcterms:modified xsi:type="dcterms:W3CDTF">2026-10-14T16:12:14Z</dcterms:modified>
</cp:coreProperties>
</file>